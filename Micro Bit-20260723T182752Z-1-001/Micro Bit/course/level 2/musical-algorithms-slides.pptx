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61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8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63"/>
  </p:normalViewPr>
  <p:slideViewPr>
    <p:cSldViewPr snapToGrid="0" snapToObjects="1">
      <p:cViewPr varScale="1">
        <p:scale>
          <a:sx n="90" d="100"/>
          <a:sy n="90" d="100"/>
        </p:scale>
        <p:origin x="74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4131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93" name="Google Shape;9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49a64b5986_0_4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g49a64b5986_0_492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41300" cy="30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g49a64b5986_0_492:notes"/>
          <p:cNvSpPr txBox="1">
            <a:spLocks noGrp="1"/>
          </p:cNvSpPr>
          <p:nvPr>
            <p:ph type="sldNum" idx="12"/>
          </p:nvPr>
        </p:nvSpPr>
        <p:spPr>
          <a:xfrm>
            <a:off x="5622800" y="6456612"/>
            <a:ext cx="4301400" cy="3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4b93448af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4b93448afc_0_0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41300" cy="30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4b93448afc_0_0:notes"/>
          <p:cNvSpPr txBox="1">
            <a:spLocks noGrp="1"/>
          </p:cNvSpPr>
          <p:nvPr>
            <p:ph type="sldNum" idx="12"/>
          </p:nvPr>
        </p:nvSpPr>
        <p:spPr>
          <a:xfrm>
            <a:off x="5622800" y="6456612"/>
            <a:ext cx="4301400" cy="3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5d65832e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5d65832e65_0_0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41300" cy="30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If I am pointed at then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	play my musical phrase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Else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	clap for four beats, rest for four beats</a:t>
            </a:r>
            <a:endParaRPr/>
          </a:p>
        </p:txBody>
      </p:sp>
      <p:sp>
        <p:nvSpPr>
          <p:cNvPr id="120" name="Google Shape;120;g5d65832e65_0_0:notes"/>
          <p:cNvSpPr txBox="1">
            <a:spLocks noGrp="1"/>
          </p:cNvSpPr>
          <p:nvPr>
            <p:ph type="sldNum" idx="12"/>
          </p:nvPr>
        </p:nvSpPr>
        <p:spPr>
          <a:xfrm>
            <a:off x="5622800" y="6456612"/>
            <a:ext cx="4301400" cy="3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4b1c38d76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g4b1c38d769_0_0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41300" cy="30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 algorithm is a set of sequenced instructions, steps or rules for a human to follow to solve a problem or complete a task.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Pupils should identified what the purpose of their previously written algorithms was i.e. what did they allow someone to achieve if followed correctly.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Previous forms could involve written instructions, storyboards, flowcharts, step-by-step instructions, diagrams, etc.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g4b1c38d769_0_0:notes"/>
          <p:cNvSpPr txBox="1">
            <a:spLocks noGrp="1"/>
          </p:cNvSpPr>
          <p:nvPr>
            <p:ph type="sldNum" idx="12"/>
          </p:nvPr>
        </p:nvSpPr>
        <p:spPr>
          <a:xfrm>
            <a:off x="5622800" y="6456612"/>
            <a:ext cx="4301400" cy="3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4b1c38d769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g4b1c38d769_0_87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41300" cy="30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All the images can be classified as algorithms because they all give instructions to a human to play music.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34" name="Google Shape;134;g4b1c38d769_0_87:notes"/>
          <p:cNvSpPr txBox="1">
            <a:spLocks noGrp="1"/>
          </p:cNvSpPr>
          <p:nvPr>
            <p:ph type="sldNum" idx="12"/>
          </p:nvPr>
        </p:nvSpPr>
        <p:spPr>
          <a:xfrm>
            <a:off x="5622800" y="6456612"/>
            <a:ext cx="4301400" cy="3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5bb79e25a1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g5bb79e25a1_0_4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41300" cy="30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Musical notation +ve quick to record instructions, can be used by musicians playing most instruments -ve only people who can read music can use this algorithm.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Written Algorithm +ve easy to understand -ve longer to write out, need to know the notes on the instrument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Image with numbers +ve quick to record, shows user where the notes are -ve can’t record longer pieces of music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43" name="Google Shape;143;g5bb79e25a1_0_4:notes"/>
          <p:cNvSpPr txBox="1">
            <a:spLocks noGrp="1"/>
          </p:cNvSpPr>
          <p:nvPr>
            <p:ph type="sldNum" idx="12"/>
          </p:nvPr>
        </p:nvSpPr>
        <p:spPr>
          <a:xfrm>
            <a:off x="5622800" y="6456612"/>
            <a:ext cx="4301400" cy="3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4b1c38d769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g4b1c38d769_0_92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41300" cy="30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g4b1c38d769_0_92:notes"/>
          <p:cNvSpPr txBox="1">
            <a:spLocks noGrp="1"/>
          </p:cNvSpPr>
          <p:nvPr>
            <p:ph type="sldNum" idx="12"/>
          </p:nvPr>
        </p:nvSpPr>
        <p:spPr>
          <a:xfrm>
            <a:off x="5622800" y="6456612"/>
            <a:ext cx="4301400" cy="3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4b1c38d769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g4b1c38d769_0_137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41300" cy="30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4b1c38d769_0_137:notes"/>
          <p:cNvSpPr txBox="1">
            <a:spLocks noGrp="1"/>
          </p:cNvSpPr>
          <p:nvPr>
            <p:ph type="sldNum" idx="12"/>
          </p:nvPr>
        </p:nvSpPr>
        <p:spPr>
          <a:xfrm>
            <a:off x="5622800" y="6456612"/>
            <a:ext cx="4301400" cy="3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5bb79e25a1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" name="Google Shape;170;g5bb79e25a1_0_27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41300" cy="30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Ascending because the notes increase in pitch from the start to the beginning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The phrase has six notes (g, a, c, c, c, e)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The phrase has four unique notes (g, a, c, e)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In the phrase the note c is played three times 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g5bb79e25a1_0_27:notes"/>
          <p:cNvSpPr txBox="1">
            <a:spLocks noGrp="1"/>
          </p:cNvSpPr>
          <p:nvPr>
            <p:ph type="sldNum" idx="12"/>
          </p:nvPr>
        </p:nvSpPr>
        <p:spPr>
          <a:xfrm>
            <a:off x="5622800" y="6456612"/>
            <a:ext cx="4301400" cy="3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5bb79e25a1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g5bb79e25a1_0_33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41300" cy="30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Descending because the notes decrease in pitch from the start to the beginning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The phrase has six notes (g, e, d, a, a, a)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The phrase has four unique notes (g, e, d, a)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In the phrase the note a is played three times 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g5bb79e25a1_0_33:notes"/>
          <p:cNvSpPr txBox="1">
            <a:spLocks noGrp="1"/>
          </p:cNvSpPr>
          <p:nvPr>
            <p:ph type="sldNum" idx="12"/>
          </p:nvPr>
        </p:nvSpPr>
        <p:spPr>
          <a:xfrm>
            <a:off x="5622800" y="6456612"/>
            <a:ext cx="4301400" cy="3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5bb79e25a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5bb79e25a1_0_40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41300" cy="30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Ascending because the notes increase in pitch from the start to the beginning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The phrase has six notes (g,b, b, d, d, d)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The phrase has three unique notes (g, b, d)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In the phrase the note b is played twice and note d is played three times 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g5bb79e25a1_0_40:notes"/>
          <p:cNvSpPr txBox="1">
            <a:spLocks noGrp="1"/>
          </p:cNvSpPr>
          <p:nvPr>
            <p:ph type="sldNum" idx="12"/>
          </p:nvPr>
        </p:nvSpPr>
        <p:spPr>
          <a:xfrm>
            <a:off x="5622800" y="6456612"/>
            <a:ext cx="4301400" cy="3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4b1c38d769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1" name="Google Shape;191;g4b1c38d769_0_142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41300" cy="30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g4b1c38d769_0_142:notes"/>
          <p:cNvSpPr txBox="1">
            <a:spLocks noGrp="1"/>
          </p:cNvSpPr>
          <p:nvPr>
            <p:ph type="sldNum" idx="12"/>
          </p:nvPr>
        </p:nvSpPr>
        <p:spPr>
          <a:xfrm>
            <a:off x="5622800" y="6456612"/>
            <a:ext cx="4301400" cy="3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5d65832e65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" name="Google Shape;197;g5d65832e65_1_5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41300" cy="30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g5d65832e65_1_5:notes"/>
          <p:cNvSpPr txBox="1">
            <a:spLocks noGrp="1"/>
          </p:cNvSpPr>
          <p:nvPr>
            <p:ph type="sldNum" idx="12"/>
          </p:nvPr>
        </p:nvSpPr>
        <p:spPr>
          <a:xfrm>
            <a:off x="5622800" y="6456612"/>
            <a:ext cx="4301400" cy="3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5d65832e65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g5d65832e65_1_0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41300" cy="30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5d65832e65_1_0:notes"/>
          <p:cNvSpPr txBox="1">
            <a:spLocks noGrp="1"/>
          </p:cNvSpPr>
          <p:nvPr>
            <p:ph type="sldNum" idx="12"/>
          </p:nvPr>
        </p:nvSpPr>
        <p:spPr>
          <a:xfrm>
            <a:off x="5622800" y="6456612"/>
            <a:ext cx="4301400" cy="3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Large quote">
  <p:cSld name="Large quote">
    <p:bg>
      <p:bgPr>
        <a:solidFill>
          <a:srgbClr val="00C800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body" idx="1"/>
          </p:nvPr>
        </p:nvSpPr>
        <p:spPr>
          <a:xfrm>
            <a:off x="768000" y="2294400"/>
            <a:ext cx="10579255" cy="22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ctr">
              <a:lnSpc>
                <a:spcPct val="103685"/>
              </a:lnSpc>
              <a:spcBef>
                <a:spcPts val="400"/>
              </a:spcBef>
              <a:spcAft>
                <a:spcPts val="0"/>
              </a:spcAft>
              <a:buClr>
                <a:srgbClr val="5EB130"/>
              </a:buClr>
              <a:buSzPts val="4104"/>
              <a:buFont typeface="Noto Sans Symbols"/>
              <a:buNone/>
              <a:defRPr sz="54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25119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5EB130"/>
              </a:buClr>
              <a:buSzPts val="1520"/>
              <a:buFont typeface="Noto Sans Symbols"/>
              <a:buChar char="▪"/>
              <a:defRPr sz="2000" b="0" i="0" u="none" strike="noStrike" cap="none">
                <a:solidFill>
                  <a:schemeClr val="lt2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325119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5EB130"/>
              </a:buClr>
              <a:buSzPts val="1520"/>
              <a:buFont typeface="Noto Sans Symbols"/>
              <a:buChar char="▪"/>
              <a:defRPr sz="2000" b="0" i="0" u="none" strike="noStrike" cap="none">
                <a:solidFill>
                  <a:schemeClr val="lt2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325119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5EB130"/>
              </a:buClr>
              <a:buSzPts val="1520"/>
              <a:buFont typeface="Noto Sans Symbols"/>
              <a:buChar char="▪"/>
              <a:defRPr sz="2000" b="0" i="0" u="none" strike="noStrike" cap="none">
                <a:solidFill>
                  <a:schemeClr val="lt2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383032" algn="l">
              <a:lnSpc>
                <a:spcPct val="108312"/>
              </a:lnSpc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2432"/>
              <a:buFont typeface="Cabin"/>
              <a:buAutoNum type="arabicPeriod"/>
              <a:defRPr sz="3200" b="0" i="0" u="none" strike="noStrike" cap="none">
                <a:solidFill>
                  <a:schemeClr val="lt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40005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40005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40005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400050" algn="l">
              <a:lnSpc>
                <a:spcPct val="90000"/>
              </a:lnSpc>
              <a:spcBef>
                <a:spcPts val="2100"/>
              </a:spcBef>
              <a:spcAft>
                <a:spcPts val="210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2"/>
          </p:nvPr>
        </p:nvSpPr>
        <p:spPr>
          <a:xfrm>
            <a:off x="2140800" y="3734400"/>
            <a:ext cx="7838341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ctr">
              <a:lnSpc>
                <a:spcPct val="233291"/>
              </a:lnSpc>
              <a:spcBef>
                <a:spcPts val="400"/>
              </a:spcBef>
              <a:spcAft>
                <a:spcPts val="0"/>
              </a:spcAft>
              <a:buClr>
                <a:srgbClr val="5EB130"/>
              </a:buClr>
              <a:buSzPts val="1824"/>
              <a:buFont typeface="Noto Sans Symbols"/>
              <a:buNone/>
              <a:defRPr sz="24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25119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5EB130"/>
              </a:buClr>
              <a:buSzPts val="1520"/>
              <a:buFont typeface="Noto Sans Symbols"/>
              <a:buChar char="▪"/>
              <a:defRPr sz="2000" b="0" i="0" u="none" strike="noStrike" cap="none">
                <a:solidFill>
                  <a:schemeClr val="lt2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325119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5EB130"/>
              </a:buClr>
              <a:buSzPts val="1520"/>
              <a:buFont typeface="Noto Sans Symbols"/>
              <a:buChar char="▪"/>
              <a:defRPr sz="2000" b="0" i="0" u="none" strike="noStrike" cap="none">
                <a:solidFill>
                  <a:schemeClr val="lt2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325119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5EB130"/>
              </a:buClr>
              <a:buSzPts val="1520"/>
              <a:buFont typeface="Noto Sans Symbols"/>
              <a:buChar char="▪"/>
              <a:defRPr sz="2000" b="0" i="0" u="none" strike="noStrike" cap="none">
                <a:solidFill>
                  <a:schemeClr val="lt2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383032" algn="l">
              <a:lnSpc>
                <a:spcPct val="108312"/>
              </a:lnSpc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2432"/>
              <a:buFont typeface="Cabin"/>
              <a:buAutoNum type="arabicPeriod"/>
              <a:defRPr sz="3200" b="0" i="0" u="none" strike="noStrike" cap="none">
                <a:solidFill>
                  <a:schemeClr val="lt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40005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40005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40005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400050" algn="l">
              <a:lnSpc>
                <a:spcPct val="90000"/>
              </a:lnSpc>
              <a:spcBef>
                <a:spcPts val="2100"/>
              </a:spcBef>
              <a:spcAft>
                <a:spcPts val="210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full image">
  <p:cSld name="full imag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>
            <a:spLocks noGrp="1"/>
          </p:cNvSpPr>
          <p:nvPr>
            <p:ph type="pic" idx="2"/>
          </p:nvPr>
        </p:nvSpPr>
        <p:spPr>
          <a:xfrm>
            <a:off x="0" y="1"/>
            <a:ext cx="12191875" cy="68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EB130"/>
              </a:buClr>
              <a:buSzPts val="1824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EB130"/>
              </a:buClr>
              <a:buSzPts val="152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EB130"/>
              </a:buClr>
              <a:buSzPts val="152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EB130"/>
              </a:buClr>
              <a:buSzPts val="152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lnSpc>
                <a:spcPct val="10831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32"/>
              <a:buFont typeface="Cabin"/>
              <a:buAutoNum type="arabicPeriod"/>
              <a:defRPr sz="32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R="0" lvl="6" algn="l" rtl="0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R="0" lvl="7" algn="l" rtl="0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R="0" lvl="8" algn="l" rtl="0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24628" y="358342"/>
            <a:ext cx="10135740" cy="5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Clr>
                <a:srgbClr val="303333"/>
              </a:buClr>
              <a:buSzPts val="4000"/>
              <a:buFont typeface="Arial"/>
              <a:buNone/>
              <a:defRPr sz="4000" b="1" i="0" u="none" strike="noStrike" cap="none">
                <a:solidFill>
                  <a:srgbClr val="30333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 sz="1800"/>
            </a:lvl9pPr>
          </a:lstStyle>
          <a:p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890B8B-112C-6B44-94F5-C969111831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60368" y="6203732"/>
            <a:ext cx="1092200" cy="5334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/>
          <p:nvPr/>
        </p:nvSpPr>
        <p:spPr>
          <a:xfrm>
            <a:off x="578589" y="1651028"/>
            <a:ext cx="11134337" cy="347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dirty="0">
                <a:solidFill>
                  <a:schemeClr val="lt1"/>
                </a:solidFill>
                <a:latin typeface="+mj-lt"/>
                <a:ea typeface="Questrial"/>
                <a:cs typeface="Questrial"/>
                <a:sym typeface="Questrial"/>
              </a:rPr>
              <a:t>Musical micro:bit </a:t>
            </a:r>
            <a:endParaRPr b="1" dirty="0">
              <a:latin typeface="+mj-l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 dirty="0">
                <a:solidFill>
                  <a:schemeClr val="lt1"/>
                </a:solidFill>
                <a:latin typeface="+mj-lt"/>
                <a:ea typeface="Questrial"/>
                <a:cs typeface="Questrial"/>
                <a:sym typeface="Questrial"/>
              </a:rPr>
              <a:t>Teacher lesson guide </a:t>
            </a:r>
            <a:endParaRPr sz="6000" b="0" i="0" u="none" strike="noStrike" cap="none" dirty="0">
              <a:solidFill>
                <a:schemeClr val="lt1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dirty="0">
                <a:solidFill>
                  <a:schemeClr val="lt1"/>
                </a:solidFill>
                <a:latin typeface="+mj-lt"/>
                <a:ea typeface="Questrial"/>
                <a:cs typeface="Questrial"/>
                <a:sym typeface="Questrial"/>
              </a:rPr>
              <a:t>Lesson 1</a:t>
            </a:r>
            <a:endParaRPr sz="6000" dirty="0">
              <a:solidFill>
                <a:schemeClr val="lt1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400" b="0" i="0" u="none" strike="noStrike" cap="none" dirty="0">
              <a:solidFill>
                <a:schemeClr val="lt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400" b="0" i="0" u="none" strike="noStrike" cap="none" dirty="0">
              <a:solidFill>
                <a:schemeClr val="lt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400" b="0" i="0" u="none" strike="noStrike" cap="none" dirty="0">
              <a:solidFill>
                <a:schemeClr val="lt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15"/>
          <p:cNvPicPr preferRelativeResize="0"/>
          <p:nvPr/>
        </p:nvPicPr>
        <p:blipFill rotWithShape="1">
          <a:blip r:embed="rId3">
            <a:alphaModFix amt="5000"/>
          </a:blip>
          <a:srcRect/>
          <a:stretch/>
        </p:blipFill>
        <p:spPr>
          <a:xfrm rot="911264">
            <a:off x="8933200" y="4664970"/>
            <a:ext cx="753722" cy="10357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5"/>
          <p:cNvPicPr preferRelativeResize="0"/>
          <p:nvPr/>
        </p:nvPicPr>
        <p:blipFill rotWithShape="1">
          <a:blip r:embed="rId3">
            <a:alphaModFix amt="5000"/>
          </a:blip>
          <a:srcRect/>
          <a:stretch/>
        </p:blipFill>
        <p:spPr>
          <a:xfrm rot="911264">
            <a:off x="6268264" y="5387311"/>
            <a:ext cx="753722" cy="10357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5"/>
          <p:cNvPicPr preferRelativeResize="0"/>
          <p:nvPr/>
        </p:nvPicPr>
        <p:blipFill rotWithShape="1">
          <a:blip r:embed="rId3">
            <a:alphaModFix amt="5000"/>
          </a:blip>
          <a:srcRect/>
          <a:stretch/>
        </p:blipFill>
        <p:spPr>
          <a:xfrm rot="911264">
            <a:off x="10484279" y="388269"/>
            <a:ext cx="753722" cy="10357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5"/>
          <p:cNvPicPr preferRelativeResize="0"/>
          <p:nvPr/>
        </p:nvPicPr>
        <p:blipFill rotWithShape="1">
          <a:blip r:embed="rId4">
            <a:alphaModFix amt="5000"/>
          </a:blip>
          <a:srcRect/>
          <a:stretch/>
        </p:blipFill>
        <p:spPr>
          <a:xfrm rot="-1168137">
            <a:off x="3275646" y="4901076"/>
            <a:ext cx="866231" cy="11191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5"/>
          <p:cNvPicPr preferRelativeResize="0"/>
          <p:nvPr/>
        </p:nvPicPr>
        <p:blipFill rotWithShape="1">
          <a:blip r:embed="rId5">
            <a:alphaModFix amt="5000"/>
          </a:blip>
          <a:srcRect/>
          <a:stretch/>
        </p:blipFill>
        <p:spPr>
          <a:xfrm rot="-2090590" flipH="1">
            <a:off x="838950" y="4940120"/>
            <a:ext cx="1033233" cy="612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/>
          <p:cNvPicPr preferRelativeResize="0"/>
          <p:nvPr/>
        </p:nvPicPr>
        <p:blipFill rotWithShape="1">
          <a:blip r:embed="rId6">
            <a:alphaModFix amt="5000"/>
          </a:blip>
          <a:srcRect/>
          <a:stretch/>
        </p:blipFill>
        <p:spPr>
          <a:xfrm rot="1801578">
            <a:off x="5443054" y="666436"/>
            <a:ext cx="830446" cy="6421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/>
          <p:cNvPicPr preferRelativeResize="0"/>
          <p:nvPr/>
        </p:nvPicPr>
        <p:blipFill rotWithShape="1">
          <a:blip r:embed="rId3">
            <a:alphaModFix amt="5000"/>
          </a:blip>
          <a:srcRect/>
          <a:stretch/>
        </p:blipFill>
        <p:spPr>
          <a:xfrm rot="911264">
            <a:off x="379877" y="2249455"/>
            <a:ext cx="753722" cy="10357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/>
          <p:cNvPicPr preferRelativeResize="0"/>
          <p:nvPr/>
        </p:nvPicPr>
        <p:blipFill rotWithShape="1">
          <a:blip r:embed="rId4">
            <a:alphaModFix amt="5000"/>
          </a:blip>
          <a:srcRect/>
          <a:stretch/>
        </p:blipFill>
        <p:spPr>
          <a:xfrm rot="-1168133">
            <a:off x="1542324" y="271567"/>
            <a:ext cx="866232" cy="11191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97757E7-0626-3E48-B80A-53F17769A550}"/>
              </a:ext>
            </a:extLst>
          </p:cNvPr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13468" y="5306667"/>
            <a:ext cx="2304255" cy="109836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/>
          <p:nvPr/>
        </p:nvSpPr>
        <p:spPr>
          <a:xfrm>
            <a:off x="1012888" y="367400"/>
            <a:ext cx="10677300" cy="50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+mj-lt"/>
                <a:ea typeface="Questrial"/>
                <a:cs typeface="Questrial"/>
                <a:sym typeface="Questrial"/>
              </a:rPr>
              <a:t>Learning objectives: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lvl="0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To read and interpret a range of algorithms.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lvl="0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To evaluate algorithms.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lvl="0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To write algorithms for a given audience.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chemeClr val="dk1"/>
              </a:solidFill>
              <a:latin typeface="+mj-lt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/>
          <p:nvPr/>
        </p:nvSpPr>
        <p:spPr>
          <a:xfrm>
            <a:off x="1012888" y="367400"/>
            <a:ext cx="10677300" cy="50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+mj-lt"/>
                <a:ea typeface="Questrial"/>
                <a:cs typeface="Questrial"/>
                <a:sym typeface="Questrial"/>
              </a:rPr>
              <a:t>Fill the gap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-431800" algn="l" rtl="0"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Clap for four beats, rest for four beats.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-431800" algn="l" rtl="0"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Create a musical phrase to play in the rest gap.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-431800" algn="l" rtl="0"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If you are pointed at, play your musical phrase during the rest.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/>
          <p:nvPr/>
        </p:nvSpPr>
        <p:spPr>
          <a:xfrm>
            <a:off x="1012888" y="367400"/>
            <a:ext cx="10677300" cy="50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+mj-lt"/>
                <a:ea typeface="Questrial"/>
                <a:cs typeface="Questrial"/>
                <a:sym typeface="Questrial"/>
              </a:rPr>
              <a:t>Complete the algorithm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Forever</a:t>
            </a:r>
            <a:endParaRPr sz="3200" b="1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1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IF </a:t>
            </a: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I am pointed at </a:t>
            </a:r>
            <a:r>
              <a:rPr lang="en-US" sz="3200" b="1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then</a:t>
            </a:r>
            <a:endParaRPr sz="3200" b="1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 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ELSE</a:t>
            </a:r>
            <a:endParaRPr sz="3200" b="1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	</a:t>
            </a:r>
            <a:endParaRPr sz="3200" b="1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</p:txBody>
      </p:sp>
      <p:cxnSp>
        <p:nvCxnSpPr>
          <p:cNvPr id="123" name="Google Shape;123;p18"/>
          <p:cNvCxnSpPr/>
          <p:nvPr/>
        </p:nvCxnSpPr>
        <p:spPr>
          <a:xfrm rot="10800000" flipH="1">
            <a:off x="2115250" y="4197475"/>
            <a:ext cx="5535900" cy="33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" name="Google Shape;124;p18"/>
          <p:cNvCxnSpPr/>
          <p:nvPr/>
        </p:nvCxnSpPr>
        <p:spPr>
          <a:xfrm rot="10800000" flipH="1">
            <a:off x="2115250" y="6359300"/>
            <a:ext cx="5535900" cy="33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/>
          <p:nvPr/>
        </p:nvSpPr>
        <p:spPr>
          <a:xfrm>
            <a:off x="784288" y="-89800"/>
            <a:ext cx="10677300" cy="50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+mj-lt"/>
                <a:ea typeface="Questrial"/>
                <a:cs typeface="Questrial"/>
                <a:sym typeface="Questrial"/>
              </a:rPr>
              <a:t>Recapping algorithms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-431800" algn="l" rtl="0"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What are algorithms?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-431800" algn="l" rtl="0"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What algorithms have you written previously?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-431800" algn="l" rtl="0"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What forms have your algorithms taken?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/>
          <p:nvPr/>
        </p:nvSpPr>
        <p:spPr>
          <a:xfrm>
            <a:off x="1012888" y="367400"/>
            <a:ext cx="10677300" cy="50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lvl="0" indent="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4000" b="1" dirty="0">
                <a:solidFill>
                  <a:schemeClr val="dk1"/>
                </a:solidFill>
                <a:latin typeface="+mj-lt"/>
                <a:ea typeface="Questrial"/>
                <a:cs typeface="Questrial"/>
                <a:sym typeface="Questrial"/>
              </a:rPr>
              <a:t>Identifying algorithms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-431800" algn="l" rtl="0"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Which of these images do you think are algorithms?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</p:txBody>
      </p:sp>
      <p:pic>
        <p:nvPicPr>
          <p:cNvPr id="137" name="Google Shape;137;p20"/>
          <p:cNvPicPr preferRelativeResize="0"/>
          <p:nvPr/>
        </p:nvPicPr>
        <p:blipFill rotWithShape="1">
          <a:blip r:embed="rId3">
            <a:alphaModFix/>
          </a:blip>
          <a:srcRect t="29191" b="23186"/>
          <a:stretch/>
        </p:blipFill>
        <p:spPr>
          <a:xfrm>
            <a:off x="3500375" y="2614625"/>
            <a:ext cx="4877950" cy="21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0"/>
          <p:cNvPicPr preferRelativeResize="0"/>
          <p:nvPr/>
        </p:nvPicPr>
        <p:blipFill rotWithShape="1">
          <a:blip r:embed="rId4">
            <a:alphaModFix/>
          </a:blip>
          <a:srcRect l="12378" t="15483" r="13094" b="12532"/>
          <a:stretch/>
        </p:blipFill>
        <p:spPr>
          <a:xfrm>
            <a:off x="8279150" y="2743175"/>
            <a:ext cx="3073725" cy="322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0"/>
          <p:cNvPicPr preferRelativeResize="0"/>
          <p:nvPr/>
        </p:nvPicPr>
        <p:blipFill rotWithShape="1">
          <a:blip r:embed="rId5">
            <a:alphaModFix/>
          </a:blip>
          <a:srcRect l="7146" t="19149" r="4514" b="19395"/>
          <a:stretch/>
        </p:blipFill>
        <p:spPr>
          <a:xfrm>
            <a:off x="462700" y="4379200"/>
            <a:ext cx="5965650" cy="186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/>
          <p:nvPr/>
        </p:nvSpPr>
        <p:spPr>
          <a:xfrm>
            <a:off x="1012888" y="367400"/>
            <a:ext cx="10677300" cy="50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lvl="0" indent="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4000" b="1" dirty="0">
                <a:solidFill>
                  <a:schemeClr val="dk1"/>
                </a:solidFill>
                <a:latin typeface="+mj-lt"/>
                <a:ea typeface="Questrial"/>
                <a:cs typeface="Questrial"/>
                <a:sym typeface="Questrial"/>
              </a:rPr>
              <a:t>Evaluating algorithms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-431800" algn="l" rtl="0"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Evaluate each algorithm by identifying what it does well and how it could be improved.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</p:txBody>
      </p:sp>
      <p:pic>
        <p:nvPicPr>
          <p:cNvPr id="146" name="Google Shape;146;p21"/>
          <p:cNvPicPr preferRelativeResize="0"/>
          <p:nvPr/>
        </p:nvPicPr>
        <p:blipFill rotWithShape="1">
          <a:blip r:embed="rId3">
            <a:alphaModFix/>
          </a:blip>
          <a:srcRect t="29191" b="23186"/>
          <a:stretch/>
        </p:blipFill>
        <p:spPr>
          <a:xfrm>
            <a:off x="3500375" y="3011225"/>
            <a:ext cx="4877950" cy="21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1"/>
          <p:cNvPicPr preferRelativeResize="0"/>
          <p:nvPr/>
        </p:nvPicPr>
        <p:blipFill rotWithShape="1">
          <a:blip r:embed="rId4">
            <a:alphaModFix/>
          </a:blip>
          <a:srcRect l="12378" t="15483" r="13094" b="12532"/>
          <a:stretch/>
        </p:blipFill>
        <p:spPr>
          <a:xfrm>
            <a:off x="8279150" y="3139775"/>
            <a:ext cx="3073725" cy="322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1"/>
          <p:cNvPicPr preferRelativeResize="0"/>
          <p:nvPr/>
        </p:nvPicPr>
        <p:blipFill rotWithShape="1">
          <a:blip r:embed="rId5">
            <a:alphaModFix/>
          </a:blip>
          <a:srcRect l="7146" t="19149" r="4514" b="19395"/>
          <a:stretch/>
        </p:blipFill>
        <p:spPr>
          <a:xfrm>
            <a:off x="462700" y="4775800"/>
            <a:ext cx="5965650" cy="186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/>
          <p:nvPr/>
        </p:nvSpPr>
        <p:spPr>
          <a:xfrm>
            <a:off x="294613" y="0"/>
            <a:ext cx="10677300" cy="50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1" u="sng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ctr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u="sng" dirty="0">
                <a:solidFill>
                  <a:schemeClr val="dk1"/>
                </a:solidFill>
                <a:latin typeface="+mj-lt"/>
                <a:ea typeface="Questrial"/>
                <a:cs typeface="Questrial"/>
                <a:sym typeface="Questrial"/>
              </a:rPr>
              <a:t>Algorithm Evaluation Sheet</a:t>
            </a:r>
            <a:endParaRPr sz="2400" b="1" u="sng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For each algorithm identify at least one positive and one negative about it. Remember algorithms should give a sequence set of instructions, steps or rules to human to help them solve a problem or complete a task.</a:t>
            </a:r>
            <a:endParaRPr sz="16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</p:txBody>
      </p:sp>
      <p:pic>
        <p:nvPicPr>
          <p:cNvPr id="155" name="Google Shape;155;p22"/>
          <p:cNvPicPr preferRelativeResize="0"/>
          <p:nvPr/>
        </p:nvPicPr>
        <p:blipFill rotWithShape="1">
          <a:blip r:embed="rId3">
            <a:alphaModFix/>
          </a:blip>
          <a:srcRect l="12378" t="15483" r="13094" b="12532"/>
          <a:stretch/>
        </p:blipFill>
        <p:spPr>
          <a:xfrm>
            <a:off x="9865575" y="2952775"/>
            <a:ext cx="2089486" cy="2190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2"/>
          <p:cNvPicPr preferRelativeResize="0"/>
          <p:nvPr/>
        </p:nvPicPr>
        <p:blipFill rotWithShape="1">
          <a:blip r:embed="rId4">
            <a:alphaModFix/>
          </a:blip>
          <a:srcRect l="7146" t="19149" r="4514" b="19395"/>
          <a:stretch/>
        </p:blipFill>
        <p:spPr>
          <a:xfrm>
            <a:off x="89963" y="5417700"/>
            <a:ext cx="4015650" cy="125697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2"/>
          <p:cNvSpPr/>
          <p:nvPr/>
        </p:nvSpPr>
        <p:spPr>
          <a:xfrm>
            <a:off x="4105613" y="5184906"/>
            <a:ext cx="6776100" cy="1497000"/>
          </a:xfrm>
          <a:prstGeom prst="rect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8" name="Google Shape;158;p22"/>
          <p:cNvPicPr preferRelativeResize="0"/>
          <p:nvPr/>
        </p:nvPicPr>
        <p:blipFill rotWithShape="1">
          <a:blip r:embed="rId5">
            <a:alphaModFix/>
          </a:blip>
          <a:srcRect t="29191" b="23186"/>
          <a:stretch/>
        </p:blipFill>
        <p:spPr>
          <a:xfrm>
            <a:off x="431150" y="1455862"/>
            <a:ext cx="3333275" cy="1496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2"/>
          <p:cNvSpPr/>
          <p:nvPr/>
        </p:nvSpPr>
        <p:spPr>
          <a:xfrm>
            <a:off x="2784675" y="3299563"/>
            <a:ext cx="6776100" cy="1497000"/>
          </a:xfrm>
          <a:prstGeom prst="rect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22"/>
          <p:cNvSpPr/>
          <p:nvPr/>
        </p:nvSpPr>
        <p:spPr>
          <a:xfrm>
            <a:off x="3853325" y="1455813"/>
            <a:ext cx="6776100" cy="1497000"/>
          </a:xfrm>
          <a:prstGeom prst="rect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3"/>
          <p:cNvSpPr/>
          <p:nvPr/>
        </p:nvSpPr>
        <p:spPr>
          <a:xfrm>
            <a:off x="1012888" y="367400"/>
            <a:ext cx="10677300" cy="50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+mj-lt"/>
                <a:ea typeface="Questrial"/>
                <a:cs typeface="Questrial"/>
                <a:sym typeface="Questrial"/>
              </a:rPr>
              <a:t>Reading musical algorithms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-431800" algn="l" rtl="0"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What instructions is this algorithm giving?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-431800" algn="l" rtl="0"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What will be produced by following this algorithm?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</p:txBody>
      </p:sp>
      <p:pic>
        <p:nvPicPr>
          <p:cNvPr id="167" name="Google Shape;167;p23"/>
          <p:cNvPicPr preferRelativeResize="0"/>
          <p:nvPr/>
        </p:nvPicPr>
        <p:blipFill rotWithShape="1">
          <a:blip r:embed="rId3">
            <a:alphaModFix/>
          </a:blip>
          <a:srcRect l="7263" t="16322" r="5017" b="16783"/>
          <a:stretch/>
        </p:blipFill>
        <p:spPr>
          <a:xfrm>
            <a:off x="2275950" y="3711225"/>
            <a:ext cx="8151199" cy="279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4"/>
          <p:cNvSpPr/>
          <p:nvPr/>
        </p:nvSpPr>
        <p:spPr>
          <a:xfrm>
            <a:off x="1012888" y="367400"/>
            <a:ext cx="10677300" cy="50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+mj-lt"/>
                <a:ea typeface="Questrial"/>
                <a:cs typeface="Questrial"/>
                <a:sym typeface="Questrial"/>
              </a:rPr>
              <a:t>Describing musical algorithms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-431800" algn="l" rtl="0"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This musical phrase is ascending.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-431800" algn="l" rtl="0"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This musical phrase contains six notes.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-431800" algn="l" rtl="0"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This musical phrase contains four unique notes.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-431800" algn="l" rtl="0"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This musical phrase repeats note c three times.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</p:txBody>
      </p:sp>
      <p:pic>
        <p:nvPicPr>
          <p:cNvPr id="174" name="Google Shape;174;p24"/>
          <p:cNvPicPr preferRelativeResize="0"/>
          <p:nvPr/>
        </p:nvPicPr>
        <p:blipFill rotWithShape="1">
          <a:blip r:embed="rId3">
            <a:alphaModFix/>
          </a:blip>
          <a:srcRect l="7263" t="16322" r="5017" b="16783"/>
          <a:stretch/>
        </p:blipFill>
        <p:spPr>
          <a:xfrm>
            <a:off x="2020400" y="3959100"/>
            <a:ext cx="8151199" cy="279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5"/>
          <p:cNvSpPr/>
          <p:nvPr/>
        </p:nvSpPr>
        <p:spPr>
          <a:xfrm>
            <a:off x="1012888" y="367400"/>
            <a:ext cx="10677300" cy="50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+mj-lt"/>
                <a:ea typeface="Questrial"/>
                <a:cs typeface="Questrial"/>
                <a:sym typeface="Questrial"/>
              </a:rPr>
              <a:t>Describing musical algorithms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-431800" algn="l" rtl="0"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Is this musical phrase ascending or descending?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-431800" algn="l" rtl="0"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How many notes does this musical phrase have?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How many unique notes does this musical phrase have?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-431800" algn="l" rtl="0"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Are any notes repeated?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</p:txBody>
      </p:sp>
      <p:pic>
        <p:nvPicPr>
          <p:cNvPr id="181" name="Google Shape;181;p25"/>
          <p:cNvPicPr preferRelativeResize="0"/>
          <p:nvPr/>
        </p:nvPicPr>
        <p:blipFill rotWithShape="1">
          <a:blip r:embed="rId3">
            <a:alphaModFix/>
          </a:blip>
          <a:srcRect l="7512" t="19062" r="7698" b="11006"/>
          <a:stretch/>
        </p:blipFill>
        <p:spPr>
          <a:xfrm>
            <a:off x="1685550" y="4561050"/>
            <a:ext cx="7911351" cy="246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6"/>
          <p:cNvSpPr/>
          <p:nvPr/>
        </p:nvSpPr>
        <p:spPr>
          <a:xfrm>
            <a:off x="1012888" y="367400"/>
            <a:ext cx="10677300" cy="50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+mj-lt"/>
                <a:ea typeface="Questrial"/>
                <a:cs typeface="Questrial"/>
                <a:sym typeface="Questrial"/>
              </a:rPr>
              <a:t>Describing musical algorithms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-431800" algn="l" rtl="0"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Is this musical phrase ascending or descending?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-431800" algn="l" rtl="0"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How many notes does this musical phrase have?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How many unique notes does this musical phrase have?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-431800" algn="l" rtl="0"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Are any notes repeated?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</p:txBody>
      </p:sp>
      <p:pic>
        <p:nvPicPr>
          <p:cNvPr id="188" name="Google Shape;188;p26"/>
          <p:cNvPicPr preferRelativeResize="0"/>
          <p:nvPr/>
        </p:nvPicPr>
        <p:blipFill rotWithShape="1">
          <a:blip r:embed="rId3">
            <a:alphaModFix/>
          </a:blip>
          <a:srcRect l="7744" t="22536" r="7702" b="17091"/>
          <a:stretch/>
        </p:blipFill>
        <p:spPr>
          <a:xfrm>
            <a:off x="2379625" y="4511400"/>
            <a:ext cx="6808449" cy="218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7"/>
          <p:cNvSpPr/>
          <p:nvPr/>
        </p:nvSpPr>
        <p:spPr>
          <a:xfrm>
            <a:off x="478971" y="367400"/>
            <a:ext cx="11600929" cy="50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+mj-lt"/>
                <a:ea typeface="Questrial"/>
                <a:cs typeface="Questrial"/>
                <a:sym typeface="Questrial"/>
              </a:rPr>
              <a:t>Composing musical phrases and algorithms</a:t>
            </a:r>
            <a:endParaRPr sz="4000" b="1" dirty="0">
              <a:solidFill>
                <a:schemeClr val="dk1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 b="1" dirty="0">
              <a:solidFill>
                <a:schemeClr val="dk1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-43180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Create three musical phrases: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914400" marR="0" lvl="1" indent="-43180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○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Each phrase should have 4-6 notes.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914400" marR="0" lvl="1" indent="-43180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○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Each phrase should have a maximum of 4 unique notes.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914400" marR="0" lvl="1" indent="-43180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○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Each phrase should have a repeating note.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914400" marR="0" lvl="1" indent="-43180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○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At least one phrase should be ascending.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914400" marR="0" lvl="1" indent="-43180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○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At least one phrase should be descending.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914400" marR="0" lvl="0" indent="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-43180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  Write an algorithm for each phrase for someone who cannot read music.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8"/>
          <p:cNvSpPr/>
          <p:nvPr/>
        </p:nvSpPr>
        <p:spPr>
          <a:xfrm>
            <a:off x="457200" y="367400"/>
            <a:ext cx="11622700" cy="50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+mj-lt"/>
                <a:ea typeface="Questrial"/>
                <a:cs typeface="Questrial"/>
                <a:sym typeface="Questrial"/>
              </a:rPr>
              <a:t>Evaluating musical phrases and algorithms</a:t>
            </a:r>
            <a:endParaRPr sz="4000" b="1" dirty="0">
              <a:solidFill>
                <a:schemeClr val="dk1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 b="1" dirty="0">
              <a:solidFill>
                <a:schemeClr val="dk1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-43180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Swap algorithms with another pair.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-43180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Use their algorithms to play their musical phrases.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-43180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Evaluate their work by considering the following: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914400" marR="0" lvl="1" indent="-43180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○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Do their phrases meet the given criteria?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914400" marR="0" lvl="1" indent="-43180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○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Are their instructions written for someone who cannot read music?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914400" marR="0" lvl="1" indent="-43180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○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Are the instructions clear and easy to follow?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914400" marR="0" lvl="1" indent="-43180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○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Could the algorithm be written with fewer instructions?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9"/>
          <p:cNvSpPr/>
          <p:nvPr/>
        </p:nvSpPr>
        <p:spPr>
          <a:xfrm>
            <a:off x="1012888" y="367400"/>
            <a:ext cx="10677300" cy="50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+mj-lt"/>
                <a:ea typeface="Questrial"/>
                <a:cs typeface="Questrial"/>
                <a:sym typeface="Questrial"/>
              </a:rPr>
              <a:t>Learning objectives revisited: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lvl="0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To read and interpret a range of algorithms.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lvl="0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To evaluate algorithms.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lvl="0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To write algorithms for a given audience.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chemeClr val="dk1"/>
              </a:solidFill>
              <a:latin typeface="+mj-lt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829</Words>
  <Application>Microsoft Office PowerPoint</Application>
  <PresentationFormat>Widescreen</PresentationFormat>
  <Paragraphs>146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Cabin</vt:lpstr>
      <vt:lpstr>Calibri</vt:lpstr>
      <vt:lpstr>Noto Sans Symbols</vt:lpstr>
      <vt:lpstr>Questrial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Ali Hemaya</cp:lastModifiedBy>
  <cp:revision>3</cp:revision>
  <dcterms:modified xsi:type="dcterms:W3CDTF">2026-01-17T15:05:02Z</dcterms:modified>
</cp:coreProperties>
</file>