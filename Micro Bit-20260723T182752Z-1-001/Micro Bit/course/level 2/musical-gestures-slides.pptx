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04"/>
  </p:normalViewPr>
  <p:slideViewPr>
    <p:cSldViewPr snapToGrid="0" snapToObjects="1">
      <p:cViewPr varScale="1">
        <p:scale>
          <a:sx n="90" d="100"/>
          <a:sy n="90" d="100"/>
        </p:scale>
        <p:origin x="74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992665" y="3228896"/>
            <a:ext cx="7941310" cy="3058954"/>
          </a:xfrm>
          <a:prstGeom prst="rect">
            <a:avLst/>
          </a:prstGeom>
          <a:noFill/>
          <a:ln>
            <a:noFill/>
          </a:ln>
        </p:spPr>
        <p:txBody>
          <a:bodyPr spcFirstLastPara="1" wrap="square" lIns="93025" tIns="46500" rIns="93025" bIns="465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93" name="Google Shape;93;p1: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49a64b5986_0_49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g49a64b5986_0_492: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08" name="Google Shape;108;g49a64b5986_0_492: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4b93448afc_0_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g4b93448afc_0_0: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14" name="Google Shape;114;g4b93448afc_0_0: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5d657b9d89_0_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g5d657b9d89_0_8: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21" name="Google Shape;121;g5d657b9d89_0_8: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d657b9d89_0_1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5d657b9d89_0_14: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28" name="Google Shape;128;g5d657b9d89_0_14: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5d657b9d89_0_2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g5d657b9d89_0_20: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r>
              <a:rPr lang="en-US"/>
              <a:t>Pupils could modify the ‘then’ statement so that each reads </a:t>
            </a:r>
            <a:r>
              <a:rPr lang="en-US" i="1"/>
              <a:t>Then action once</a:t>
            </a:r>
            <a:r>
              <a:rPr lang="en-US"/>
              <a:t> - Then turn around once</a:t>
            </a:r>
            <a:endParaRPr sz="1200" b="0" i="0" u="none" strike="noStrike" cap="none">
              <a:solidFill>
                <a:schemeClr val="dk1"/>
              </a:solidFill>
              <a:latin typeface="Calibri"/>
              <a:ea typeface="Calibri"/>
              <a:cs typeface="Calibri"/>
              <a:sym typeface="Calibri"/>
            </a:endParaRPr>
          </a:p>
        </p:txBody>
      </p:sp>
      <p:sp>
        <p:nvSpPr>
          <p:cNvPr id="135" name="Google Shape;135;g5d657b9d89_0_20: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4b1c38d769_0_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4b1c38d769_0_0: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lvl="0" indent="0" algn="l" rtl="0">
              <a:spcBef>
                <a:spcPts val="0"/>
              </a:spcBef>
              <a:spcAft>
                <a:spcPts val="0"/>
              </a:spcAft>
              <a:buClr>
                <a:schemeClr val="dk1"/>
              </a:buClr>
              <a:buSzPts val="1100"/>
              <a:buFont typeface="Arial"/>
              <a:buNone/>
            </a:pPr>
            <a:r>
              <a:rPr lang="en-US" sz="1100">
                <a:solidFill>
                  <a:srgbClr val="000000"/>
                </a:solidFill>
                <a:latin typeface="Arial"/>
                <a:ea typeface="Arial"/>
                <a:cs typeface="Arial"/>
                <a:sym typeface="Arial"/>
              </a:rPr>
              <a:t>Example algorithm </a:t>
            </a: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a:solidFill>
                  <a:srgbClr val="000000"/>
                </a:solidFill>
                <a:latin typeface="Arial"/>
                <a:ea typeface="Arial"/>
                <a:cs typeface="Arial"/>
                <a:sym typeface="Arial"/>
              </a:rPr>
              <a:t>Forever</a:t>
            </a: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a:solidFill>
                  <a:srgbClr val="000000"/>
                </a:solidFill>
                <a:latin typeface="Arial"/>
                <a:ea typeface="Arial"/>
                <a:cs typeface="Arial"/>
                <a:sym typeface="Arial"/>
              </a:rPr>
              <a:t>	If the conductor waves hands high in the air</a:t>
            </a:r>
            <a:endParaRPr sz="1100">
              <a:solidFill>
                <a:srgbClr val="0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a:solidFill>
                  <a:srgbClr val="000000"/>
                </a:solidFill>
                <a:latin typeface="Arial"/>
                <a:ea typeface="Arial"/>
                <a:cs typeface="Arial"/>
                <a:sym typeface="Arial"/>
              </a:rPr>
              <a:t>		Then play faster</a:t>
            </a:r>
            <a:endParaRPr sz="1100">
              <a:solidFill>
                <a:srgbClr val="000000"/>
              </a:solidFill>
              <a:latin typeface="Arial"/>
              <a:ea typeface="Arial"/>
              <a:cs typeface="Arial"/>
              <a:sym typeface="Arial"/>
            </a:endParaRPr>
          </a:p>
        </p:txBody>
      </p:sp>
      <p:sp>
        <p:nvSpPr>
          <p:cNvPr id="142" name="Google Shape;142;g4b1c38d769_0_0: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5d657b9d89_0_3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5d657b9d89_0_32: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lvl="0" indent="0" algn="l" rtl="0">
              <a:spcBef>
                <a:spcPts val="0"/>
              </a:spcBef>
              <a:spcAft>
                <a:spcPts val="0"/>
              </a:spcAft>
              <a:buClr>
                <a:schemeClr val="dk1"/>
              </a:buClr>
              <a:buSzPts val="1100"/>
              <a:buFont typeface="Arial"/>
              <a:buNone/>
            </a:pPr>
            <a:r>
              <a:rPr lang="en-US" sz="1100">
                <a:solidFill>
                  <a:srgbClr val="000000"/>
                </a:solidFill>
                <a:latin typeface="Arial"/>
                <a:ea typeface="Arial"/>
                <a:cs typeface="Arial"/>
                <a:sym typeface="Arial"/>
              </a:rPr>
              <a:t>Keywords: forever, if, then, play, note, once</a:t>
            </a:r>
            <a:endParaRPr sz="1100">
              <a:solidFill>
                <a:srgbClr val="000000"/>
              </a:solidFill>
              <a:latin typeface="Arial"/>
              <a:ea typeface="Arial"/>
              <a:cs typeface="Arial"/>
              <a:sym typeface="Arial"/>
            </a:endParaRPr>
          </a:p>
        </p:txBody>
      </p:sp>
      <p:sp>
        <p:nvSpPr>
          <p:cNvPr id="149" name="Google Shape;149;g5d657b9d89_0_32: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5d657b9d89_0_5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5d657b9d89_0_54: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lvl="0" indent="0" algn="l" rtl="0">
              <a:spcBef>
                <a:spcPts val="0"/>
              </a:spcBef>
              <a:spcAft>
                <a:spcPts val="0"/>
              </a:spcAft>
              <a:buClr>
                <a:schemeClr val="dk1"/>
              </a:buClr>
              <a:buSzPts val="1100"/>
              <a:buFont typeface="Arial"/>
              <a:buNone/>
            </a:pPr>
            <a:r>
              <a:rPr lang="en-US" sz="1100">
                <a:solidFill>
                  <a:srgbClr val="000000"/>
                </a:solidFill>
                <a:latin typeface="Arial"/>
                <a:ea typeface="Arial"/>
                <a:cs typeface="Arial"/>
                <a:sym typeface="Arial"/>
              </a:rPr>
              <a:t>Keywords: forever, if, then, play, note, once</a:t>
            </a:r>
            <a:endParaRPr sz="1100">
              <a:solidFill>
                <a:srgbClr val="000000"/>
              </a:solidFill>
              <a:latin typeface="Arial"/>
              <a:ea typeface="Arial"/>
              <a:cs typeface="Arial"/>
              <a:sym typeface="Arial"/>
            </a:endParaRPr>
          </a:p>
        </p:txBody>
      </p:sp>
      <p:sp>
        <p:nvSpPr>
          <p:cNvPr id="155" name="Google Shape;155;g5d657b9d89_0_54: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4b1c38d769_0_87: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4b1c38d769_0_87: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a:p>
        </p:txBody>
      </p:sp>
      <p:sp>
        <p:nvSpPr>
          <p:cNvPr id="162" name="Google Shape;162;g4b1c38d769_0_87: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5d657b9d89_0_3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g5d657b9d89_0_38: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r>
              <a:rPr lang="en-US"/>
              <a:t>Pupils decide if the language used was simple and straightforward</a:t>
            </a:r>
            <a:endParaRPr/>
          </a:p>
          <a:p>
            <a:pPr marL="0" marR="0" lvl="0" indent="0" algn="l" rtl="0">
              <a:spcBef>
                <a:spcPts val="0"/>
              </a:spcBef>
              <a:spcAft>
                <a:spcPts val="0"/>
              </a:spcAft>
              <a:buClr>
                <a:schemeClr val="dk1"/>
              </a:buClr>
              <a:buSzPts val="1200"/>
              <a:buFont typeface="Calibri"/>
              <a:buNone/>
            </a:pPr>
            <a:r>
              <a:rPr lang="en-US"/>
              <a:t>Pupils identify is indentation is used to show the action that would be taken if a condition was met</a:t>
            </a:r>
            <a:endParaRPr/>
          </a:p>
          <a:p>
            <a:pPr marL="0" marR="0" lvl="0" indent="0" algn="l" rtl="0">
              <a:spcBef>
                <a:spcPts val="0"/>
              </a:spcBef>
              <a:spcAft>
                <a:spcPts val="0"/>
              </a:spcAft>
              <a:buClr>
                <a:schemeClr val="dk1"/>
              </a:buClr>
              <a:buSzPts val="1200"/>
              <a:buFont typeface="Calibri"/>
              <a:buNone/>
            </a:pPr>
            <a:r>
              <a:rPr lang="en-US"/>
              <a:t>Pupils identify if there was any language or phrases they didn’t understanding - use of slang terms for dances may restrict understanding for some pupils.</a:t>
            </a:r>
            <a:endParaRPr/>
          </a:p>
          <a:p>
            <a:pPr marL="0" marR="0" lvl="0" indent="0" algn="l" rtl="0">
              <a:spcBef>
                <a:spcPts val="0"/>
              </a:spcBef>
              <a:spcAft>
                <a:spcPts val="0"/>
              </a:spcAft>
              <a:buClr>
                <a:schemeClr val="dk1"/>
              </a:buClr>
              <a:buSzPts val="1200"/>
              <a:buFont typeface="Calibri"/>
              <a:buNone/>
            </a:pPr>
            <a:r>
              <a:rPr lang="en-US"/>
              <a:t>Pupils identify if they had to carry out actions because they knew they were supposed to do them even though it wasn’t mentioned in the algorithm. Most commonly pupils forget to start with forever in this case pupils only check once if the condition is being met. They also forget to put once in to identify that the note should be played once and not continuously until another gesture is made.</a:t>
            </a:r>
            <a:endParaRPr/>
          </a:p>
          <a:p>
            <a:pPr marL="0" marR="0" lvl="0" indent="0" algn="l" rtl="0">
              <a:spcBef>
                <a:spcPts val="0"/>
              </a:spcBef>
              <a:spcAft>
                <a:spcPts val="0"/>
              </a:spcAft>
              <a:buClr>
                <a:schemeClr val="dk1"/>
              </a:buClr>
              <a:buSzPts val="1200"/>
              <a:buFont typeface="Calibri"/>
              <a:buNone/>
            </a:pPr>
            <a:endParaRPr/>
          </a:p>
        </p:txBody>
      </p:sp>
      <p:sp>
        <p:nvSpPr>
          <p:cNvPr id="168" name="Google Shape;168;g5d657b9d89_0_38: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5d657b9d89_0_43: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5d657b9d89_0_43: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74" name="Google Shape;174;g5d657b9d89_0_43: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5d657b9d89_0_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5d657b9d89_0_2: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80" name="Google Shape;180;g5d657b9d89_0_2: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5d657b9d89_0_4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5d657b9d89_0_48:notes"/>
          <p:cNvSpPr txBox="1">
            <a:spLocks noGrp="1"/>
          </p:cNvSpPr>
          <p:nvPr>
            <p:ph type="body" idx="1"/>
          </p:nvPr>
        </p:nvSpPr>
        <p:spPr>
          <a:xfrm>
            <a:off x="992665" y="3228896"/>
            <a:ext cx="7941300" cy="3059100"/>
          </a:xfrm>
          <a:prstGeom prst="rect">
            <a:avLst/>
          </a:prstGeom>
          <a:noFill/>
          <a:ln>
            <a:noFill/>
          </a:ln>
        </p:spPr>
        <p:txBody>
          <a:bodyPr spcFirstLastPara="1" wrap="square" lIns="93025" tIns="46500" rIns="93025" bIns="46500" anchor="t" anchorCtr="0">
            <a:noAutofit/>
          </a:bodyPr>
          <a:lstStyle/>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86" name="Google Shape;186;g5d657b9d89_0_48:notes"/>
          <p:cNvSpPr txBox="1">
            <a:spLocks noGrp="1"/>
          </p:cNvSpPr>
          <p:nvPr>
            <p:ph type="sldNum" idx="12"/>
          </p:nvPr>
        </p:nvSpPr>
        <p:spPr>
          <a:xfrm>
            <a:off x="5622800" y="6456612"/>
            <a:ext cx="4301400" cy="339900"/>
          </a:xfrm>
          <a:prstGeom prst="rect">
            <a:avLst/>
          </a:prstGeom>
          <a:noFill/>
          <a:ln>
            <a:noFill/>
          </a:ln>
        </p:spPr>
        <p:txBody>
          <a:bodyPr spcFirstLastPara="1" wrap="square" lIns="93025" tIns="46500" rIns="93025" bIns="465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Large quote">
  <p:cSld name="Large quote">
    <p:bg>
      <p:bgPr>
        <a:solidFill>
          <a:srgbClr val="00C800"/>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body" idx="1"/>
          </p:nvPr>
        </p:nvSpPr>
        <p:spPr>
          <a:xfrm>
            <a:off x="768000" y="2294400"/>
            <a:ext cx="10579255" cy="2294400"/>
          </a:xfrm>
          <a:prstGeom prst="rect">
            <a:avLst/>
          </a:prstGeom>
          <a:noFill/>
          <a:ln>
            <a:noFill/>
          </a:ln>
        </p:spPr>
        <p:txBody>
          <a:bodyPr spcFirstLastPara="1" wrap="square" lIns="0" tIns="0" rIns="0" bIns="0" anchor="t" anchorCtr="0">
            <a:noAutofit/>
          </a:bodyPr>
          <a:lstStyle>
            <a:lvl1pPr marL="457200" marR="0" lvl="0" indent="-228600" algn="ctr">
              <a:lnSpc>
                <a:spcPct val="103685"/>
              </a:lnSpc>
              <a:spcBef>
                <a:spcPts val="400"/>
              </a:spcBef>
              <a:spcAft>
                <a:spcPts val="0"/>
              </a:spcAft>
              <a:buClr>
                <a:srgbClr val="5EB130"/>
              </a:buClr>
              <a:buSzPts val="4104"/>
              <a:buFont typeface="Noto Sans Symbols"/>
              <a:buNone/>
              <a:defRPr sz="5400" b="0" i="0" u="none" strike="noStrike" cap="none">
                <a:solidFill>
                  <a:schemeClr val="lt1"/>
                </a:solidFill>
                <a:latin typeface="Cabin"/>
                <a:ea typeface="Cabin"/>
                <a:cs typeface="Cabin"/>
                <a:sym typeface="Cabin"/>
              </a:defRPr>
            </a:lvl1pPr>
            <a:lvl2pPr marL="914400" marR="0" lvl="1" indent="-325119" algn="l">
              <a:lnSpc>
                <a:spcPct val="100000"/>
              </a:lnSpc>
              <a:spcBef>
                <a:spcPts val="2100"/>
              </a:spcBef>
              <a:spcAft>
                <a:spcPts val="0"/>
              </a:spcAft>
              <a:buClr>
                <a:srgbClr val="5EB130"/>
              </a:buClr>
              <a:buSzPts val="1520"/>
              <a:buFont typeface="Noto Sans Symbols"/>
              <a:buChar char="▪"/>
              <a:defRPr sz="2000" b="0" i="0" u="none" strike="noStrike" cap="none">
                <a:solidFill>
                  <a:schemeClr val="lt2"/>
                </a:solidFill>
                <a:latin typeface="Questrial"/>
                <a:ea typeface="Questrial"/>
                <a:cs typeface="Questrial"/>
                <a:sym typeface="Questrial"/>
              </a:defRPr>
            </a:lvl2pPr>
            <a:lvl3pPr marL="1371600" marR="0" lvl="2" indent="-325119" algn="l">
              <a:lnSpc>
                <a:spcPct val="100000"/>
              </a:lnSpc>
              <a:spcBef>
                <a:spcPts val="2100"/>
              </a:spcBef>
              <a:spcAft>
                <a:spcPts val="0"/>
              </a:spcAft>
              <a:buClr>
                <a:srgbClr val="5EB130"/>
              </a:buClr>
              <a:buSzPts val="1520"/>
              <a:buFont typeface="Noto Sans Symbols"/>
              <a:buChar char="▪"/>
              <a:defRPr sz="2000" b="0" i="0" u="none" strike="noStrike" cap="none">
                <a:solidFill>
                  <a:schemeClr val="lt2"/>
                </a:solidFill>
                <a:latin typeface="Questrial"/>
                <a:ea typeface="Questrial"/>
                <a:cs typeface="Questrial"/>
                <a:sym typeface="Questrial"/>
              </a:defRPr>
            </a:lvl3pPr>
            <a:lvl4pPr marL="1828800" marR="0" lvl="3" indent="-325119" algn="l">
              <a:lnSpc>
                <a:spcPct val="100000"/>
              </a:lnSpc>
              <a:spcBef>
                <a:spcPts val="2100"/>
              </a:spcBef>
              <a:spcAft>
                <a:spcPts val="0"/>
              </a:spcAft>
              <a:buClr>
                <a:srgbClr val="5EB130"/>
              </a:buClr>
              <a:buSzPts val="1520"/>
              <a:buFont typeface="Noto Sans Symbols"/>
              <a:buChar char="▪"/>
              <a:defRPr sz="2000" b="0" i="0" u="none" strike="noStrike" cap="none">
                <a:solidFill>
                  <a:schemeClr val="lt2"/>
                </a:solidFill>
                <a:latin typeface="Questrial"/>
                <a:ea typeface="Questrial"/>
                <a:cs typeface="Questrial"/>
                <a:sym typeface="Questrial"/>
              </a:defRPr>
            </a:lvl4pPr>
            <a:lvl5pPr marL="2286000" marR="0" lvl="4" indent="-383032" algn="l">
              <a:lnSpc>
                <a:spcPct val="108312"/>
              </a:lnSpc>
              <a:spcBef>
                <a:spcPts val="2100"/>
              </a:spcBef>
              <a:spcAft>
                <a:spcPts val="0"/>
              </a:spcAft>
              <a:buClr>
                <a:schemeClr val="lt2"/>
              </a:buClr>
              <a:buSzPts val="2432"/>
              <a:buFont typeface="Cabin"/>
              <a:buAutoNum type="arabicPeriod"/>
              <a:defRPr sz="3200" b="0" i="0" u="none" strike="noStrike" cap="none">
                <a:solidFill>
                  <a:schemeClr val="lt2"/>
                </a:solidFill>
                <a:latin typeface="Cabin"/>
                <a:ea typeface="Cabin"/>
                <a:cs typeface="Cabin"/>
                <a:sym typeface="Cabin"/>
              </a:defRPr>
            </a:lvl5pPr>
            <a:lvl6pPr marL="2743200" marR="0" lvl="5" indent="-400050" algn="l">
              <a:lnSpc>
                <a:spcPct val="90000"/>
              </a:lnSpc>
              <a:spcBef>
                <a:spcPts val="210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6pPr>
            <a:lvl7pPr marL="3200400" marR="0" lvl="6" indent="-400050" algn="l">
              <a:lnSpc>
                <a:spcPct val="90000"/>
              </a:lnSpc>
              <a:spcBef>
                <a:spcPts val="210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7pPr>
            <a:lvl8pPr marL="3657600" marR="0" lvl="7" indent="-400050" algn="l">
              <a:lnSpc>
                <a:spcPct val="90000"/>
              </a:lnSpc>
              <a:spcBef>
                <a:spcPts val="210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8pPr>
            <a:lvl9pPr marL="4114800" marR="0" lvl="8" indent="-400050" algn="l">
              <a:lnSpc>
                <a:spcPct val="90000"/>
              </a:lnSpc>
              <a:spcBef>
                <a:spcPts val="2100"/>
              </a:spcBef>
              <a:spcAft>
                <a:spcPts val="2100"/>
              </a:spcAft>
              <a:buClr>
                <a:schemeClr val="dk1"/>
              </a:buClr>
              <a:buSzPts val="2700"/>
              <a:buFont typeface="Arial"/>
              <a:buChar char="•"/>
              <a:defRPr sz="2700" b="0" i="0" u="none" strike="noStrike" cap="none">
                <a:solidFill>
                  <a:schemeClr val="dk1"/>
                </a:solidFill>
                <a:latin typeface="Cabin"/>
                <a:ea typeface="Cabin"/>
                <a:cs typeface="Cabin"/>
                <a:sym typeface="Cabin"/>
              </a:defRPr>
            </a:lvl9pPr>
          </a:lstStyle>
          <a:p>
            <a:endParaRPr/>
          </a:p>
        </p:txBody>
      </p:sp>
      <p:sp>
        <p:nvSpPr>
          <p:cNvPr id="17" name="Google Shape;17;p2"/>
          <p:cNvSpPr txBox="1">
            <a:spLocks noGrp="1"/>
          </p:cNvSpPr>
          <p:nvPr>
            <p:ph type="body" idx="2"/>
          </p:nvPr>
        </p:nvSpPr>
        <p:spPr>
          <a:xfrm>
            <a:off x="2140800" y="3734400"/>
            <a:ext cx="7838341" cy="1219200"/>
          </a:xfrm>
          <a:prstGeom prst="rect">
            <a:avLst/>
          </a:prstGeom>
          <a:noFill/>
          <a:ln>
            <a:noFill/>
          </a:ln>
        </p:spPr>
        <p:txBody>
          <a:bodyPr spcFirstLastPara="1" wrap="square" lIns="0" tIns="0" rIns="0" bIns="0" anchor="t" anchorCtr="0">
            <a:noAutofit/>
          </a:bodyPr>
          <a:lstStyle>
            <a:lvl1pPr marL="457200" marR="0" lvl="0" indent="-228600" algn="ctr">
              <a:lnSpc>
                <a:spcPct val="233291"/>
              </a:lnSpc>
              <a:spcBef>
                <a:spcPts val="400"/>
              </a:spcBef>
              <a:spcAft>
                <a:spcPts val="0"/>
              </a:spcAft>
              <a:buClr>
                <a:srgbClr val="5EB130"/>
              </a:buClr>
              <a:buSzPts val="1824"/>
              <a:buFont typeface="Noto Sans Symbols"/>
              <a:buNone/>
              <a:defRPr sz="2400" b="0" i="0" u="none" strike="noStrike" cap="none">
                <a:solidFill>
                  <a:schemeClr val="lt1"/>
                </a:solidFill>
                <a:latin typeface="Cabin"/>
                <a:ea typeface="Cabin"/>
                <a:cs typeface="Cabin"/>
                <a:sym typeface="Cabin"/>
              </a:defRPr>
            </a:lvl1pPr>
            <a:lvl2pPr marL="914400" marR="0" lvl="1" indent="-325119" algn="l">
              <a:lnSpc>
                <a:spcPct val="100000"/>
              </a:lnSpc>
              <a:spcBef>
                <a:spcPts val="2100"/>
              </a:spcBef>
              <a:spcAft>
                <a:spcPts val="0"/>
              </a:spcAft>
              <a:buClr>
                <a:srgbClr val="5EB130"/>
              </a:buClr>
              <a:buSzPts val="1520"/>
              <a:buFont typeface="Noto Sans Symbols"/>
              <a:buChar char="▪"/>
              <a:defRPr sz="2000" b="0" i="0" u="none" strike="noStrike" cap="none">
                <a:solidFill>
                  <a:schemeClr val="lt2"/>
                </a:solidFill>
                <a:latin typeface="Questrial"/>
                <a:ea typeface="Questrial"/>
                <a:cs typeface="Questrial"/>
                <a:sym typeface="Questrial"/>
              </a:defRPr>
            </a:lvl2pPr>
            <a:lvl3pPr marL="1371600" marR="0" lvl="2" indent="-325119" algn="l">
              <a:lnSpc>
                <a:spcPct val="100000"/>
              </a:lnSpc>
              <a:spcBef>
                <a:spcPts val="2100"/>
              </a:spcBef>
              <a:spcAft>
                <a:spcPts val="0"/>
              </a:spcAft>
              <a:buClr>
                <a:srgbClr val="5EB130"/>
              </a:buClr>
              <a:buSzPts val="1520"/>
              <a:buFont typeface="Noto Sans Symbols"/>
              <a:buChar char="▪"/>
              <a:defRPr sz="2000" b="0" i="0" u="none" strike="noStrike" cap="none">
                <a:solidFill>
                  <a:schemeClr val="lt2"/>
                </a:solidFill>
                <a:latin typeface="Questrial"/>
                <a:ea typeface="Questrial"/>
                <a:cs typeface="Questrial"/>
                <a:sym typeface="Questrial"/>
              </a:defRPr>
            </a:lvl3pPr>
            <a:lvl4pPr marL="1828800" marR="0" lvl="3" indent="-325119" algn="l">
              <a:lnSpc>
                <a:spcPct val="100000"/>
              </a:lnSpc>
              <a:spcBef>
                <a:spcPts val="2100"/>
              </a:spcBef>
              <a:spcAft>
                <a:spcPts val="0"/>
              </a:spcAft>
              <a:buClr>
                <a:srgbClr val="5EB130"/>
              </a:buClr>
              <a:buSzPts val="1520"/>
              <a:buFont typeface="Noto Sans Symbols"/>
              <a:buChar char="▪"/>
              <a:defRPr sz="2000" b="0" i="0" u="none" strike="noStrike" cap="none">
                <a:solidFill>
                  <a:schemeClr val="lt2"/>
                </a:solidFill>
                <a:latin typeface="Questrial"/>
                <a:ea typeface="Questrial"/>
                <a:cs typeface="Questrial"/>
                <a:sym typeface="Questrial"/>
              </a:defRPr>
            </a:lvl4pPr>
            <a:lvl5pPr marL="2286000" marR="0" lvl="4" indent="-383032" algn="l">
              <a:lnSpc>
                <a:spcPct val="108312"/>
              </a:lnSpc>
              <a:spcBef>
                <a:spcPts val="2100"/>
              </a:spcBef>
              <a:spcAft>
                <a:spcPts val="0"/>
              </a:spcAft>
              <a:buClr>
                <a:schemeClr val="lt2"/>
              </a:buClr>
              <a:buSzPts val="2432"/>
              <a:buFont typeface="Cabin"/>
              <a:buAutoNum type="arabicPeriod"/>
              <a:defRPr sz="3200" b="0" i="0" u="none" strike="noStrike" cap="none">
                <a:solidFill>
                  <a:schemeClr val="lt2"/>
                </a:solidFill>
                <a:latin typeface="Cabin"/>
                <a:ea typeface="Cabin"/>
                <a:cs typeface="Cabin"/>
                <a:sym typeface="Cabin"/>
              </a:defRPr>
            </a:lvl5pPr>
            <a:lvl6pPr marL="2743200" marR="0" lvl="5" indent="-400050" algn="l">
              <a:lnSpc>
                <a:spcPct val="90000"/>
              </a:lnSpc>
              <a:spcBef>
                <a:spcPts val="210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6pPr>
            <a:lvl7pPr marL="3200400" marR="0" lvl="6" indent="-400050" algn="l">
              <a:lnSpc>
                <a:spcPct val="90000"/>
              </a:lnSpc>
              <a:spcBef>
                <a:spcPts val="210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7pPr>
            <a:lvl8pPr marL="3657600" marR="0" lvl="7" indent="-400050" algn="l">
              <a:lnSpc>
                <a:spcPct val="90000"/>
              </a:lnSpc>
              <a:spcBef>
                <a:spcPts val="210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8pPr>
            <a:lvl9pPr marL="4114800" marR="0" lvl="8" indent="-400050" algn="l">
              <a:lnSpc>
                <a:spcPct val="90000"/>
              </a:lnSpc>
              <a:spcBef>
                <a:spcPts val="2100"/>
              </a:spcBef>
              <a:spcAft>
                <a:spcPts val="2100"/>
              </a:spcAft>
              <a:buClr>
                <a:schemeClr val="dk1"/>
              </a:buClr>
              <a:buSzPts val="2700"/>
              <a:buFont typeface="Arial"/>
              <a:buChar char="•"/>
              <a:defRPr sz="2700" b="0" i="0" u="none" strike="noStrike" cap="none">
                <a:solidFill>
                  <a:schemeClr val="dk1"/>
                </a:solidFill>
                <a:latin typeface="Cabin"/>
                <a:ea typeface="Cabin"/>
                <a:cs typeface="Cabin"/>
                <a:sym typeface="Cabin"/>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full image">
  <p:cSld name="full image">
    <p:spTree>
      <p:nvGrpSpPr>
        <p:cNvPr id="1" name="Shape 18"/>
        <p:cNvGrpSpPr/>
        <p:nvPr/>
      </p:nvGrpSpPr>
      <p:grpSpPr>
        <a:xfrm>
          <a:off x="0" y="0"/>
          <a:ext cx="0" cy="0"/>
          <a:chOff x="0" y="0"/>
          <a:chExt cx="0" cy="0"/>
        </a:xfrm>
      </p:grpSpPr>
      <p:sp>
        <p:nvSpPr>
          <p:cNvPr id="19" name="Google Shape;19;p3"/>
          <p:cNvSpPr>
            <a:spLocks noGrp="1"/>
          </p:cNvSpPr>
          <p:nvPr>
            <p:ph type="pic" idx="2"/>
          </p:nvPr>
        </p:nvSpPr>
        <p:spPr>
          <a:xfrm>
            <a:off x="0" y="1"/>
            <a:ext cx="12191875" cy="6866400"/>
          </a:xfrm>
          <a:prstGeom prst="rect">
            <a:avLst/>
          </a:prstGeom>
          <a:noFill/>
          <a:ln>
            <a:noFill/>
          </a:ln>
        </p:spPr>
        <p:txBody>
          <a:bodyPr spcFirstLastPara="1" wrap="square" lIns="0" tIns="0" rIns="0" bIns="0" anchor="t" anchorCtr="0">
            <a:noAutofit/>
          </a:bodyPr>
          <a:lstStyle>
            <a:lvl1pPr marR="0" lvl="0" algn="l" rtl="0">
              <a:lnSpc>
                <a:spcPct val="100000"/>
              </a:lnSpc>
              <a:spcBef>
                <a:spcPts val="400"/>
              </a:spcBef>
              <a:spcAft>
                <a:spcPts val="0"/>
              </a:spcAft>
              <a:buClr>
                <a:srgbClr val="5EB130"/>
              </a:buClr>
              <a:buSzPts val="1824"/>
              <a:buFont typeface="Noto Sans Symbols"/>
              <a:buChar char="▪"/>
              <a:defRPr sz="2400" b="0" i="0" u="none" strike="noStrike" cap="none">
                <a:solidFill>
                  <a:schemeClr val="dk2"/>
                </a:solidFill>
                <a:latin typeface="Questrial"/>
                <a:ea typeface="Questrial"/>
                <a:cs typeface="Questrial"/>
                <a:sym typeface="Questrial"/>
              </a:defRPr>
            </a:lvl1pPr>
            <a:lvl2pPr marR="0" lvl="1" algn="l" rtl="0">
              <a:lnSpc>
                <a:spcPct val="100000"/>
              </a:lnSpc>
              <a:spcBef>
                <a:spcPts val="400"/>
              </a:spcBef>
              <a:spcAft>
                <a:spcPts val="0"/>
              </a:spcAft>
              <a:buClr>
                <a:srgbClr val="5EB130"/>
              </a:buClr>
              <a:buSzPts val="1520"/>
              <a:buFont typeface="Noto Sans Symbols"/>
              <a:buChar char="▪"/>
              <a:defRPr sz="2000" b="0" i="0" u="none" strike="noStrike" cap="none">
                <a:solidFill>
                  <a:schemeClr val="dk2"/>
                </a:solidFill>
                <a:latin typeface="Questrial"/>
                <a:ea typeface="Questrial"/>
                <a:cs typeface="Questrial"/>
                <a:sym typeface="Questrial"/>
              </a:defRPr>
            </a:lvl2pPr>
            <a:lvl3pPr marR="0" lvl="2" algn="l" rtl="0">
              <a:lnSpc>
                <a:spcPct val="100000"/>
              </a:lnSpc>
              <a:spcBef>
                <a:spcPts val="400"/>
              </a:spcBef>
              <a:spcAft>
                <a:spcPts val="0"/>
              </a:spcAft>
              <a:buClr>
                <a:srgbClr val="5EB130"/>
              </a:buClr>
              <a:buSzPts val="1520"/>
              <a:buFont typeface="Noto Sans Symbols"/>
              <a:buChar char="▪"/>
              <a:defRPr sz="2000" b="0" i="0" u="none" strike="noStrike" cap="none">
                <a:solidFill>
                  <a:schemeClr val="dk2"/>
                </a:solidFill>
                <a:latin typeface="Questrial"/>
                <a:ea typeface="Questrial"/>
                <a:cs typeface="Questrial"/>
                <a:sym typeface="Questrial"/>
              </a:defRPr>
            </a:lvl3pPr>
            <a:lvl4pPr marR="0" lvl="3" algn="l" rtl="0">
              <a:lnSpc>
                <a:spcPct val="100000"/>
              </a:lnSpc>
              <a:spcBef>
                <a:spcPts val="400"/>
              </a:spcBef>
              <a:spcAft>
                <a:spcPts val="0"/>
              </a:spcAft>
              <a:buClr>
                <a:srgbClr val="5EB130"/>
              </a:buClr>
              <a:buSzPts val="1520"/>
              <a:buFont typeface="Noto Sans Symbols"/>
              <a:buChar char="▪"/>
              <a:defRPr sz="2000" b="0" i="0" u="none" strike="noStrike" cap="none">
                <a:solidFill>
                  <a:schemeClr val="dk2"/>
                </a:solidFill>
                <a:latin typeface="Questrial"/>
                <a:ea typeface="Questrial"/>
                <a:cs typeface="Questrial"/>
                <a:sym typeface="Questrial"/>
              </a:defRPr>
            </a:lvl4pPr>
            <a:lvl5pPr marR="0" lvl="4" algn="l" rtl="0">
              <a:lnSpc>
                <a:spcPct val="108312"/>
              </a:lnSpc>
              <a:spcBef>
                <a:spcPts val="0"/>
              </a:spcBef>
              <a:spcAft>
                <a:spcPts val="0"/>
              </a:spcAft>
              <a:buClr>
                <a:schemeClr val="dk1"/>
              </a:buClr>
              <a:buSzPts val="2432"/>
              <a:buFont typeface="Cabin"/>
              <a:buAutoNum type="arabicPeriod"/>
              <a:defRPr sz="3200" b="0" i="0" u="none" strike="noStrike" cap="none">
                <a:solidFill>
                  <a:schemeClr val="dk1"/>
                </a:solidFill>
                <a:latin typeface="Cabin"/>
                <a:ea typeface="Cabin"/>
                <a:cs typeface="Cabin"/>
                <a:sym typeface="Cabin"/>
              </a:defRPr>
            </a:lvl5pPr>
            <a:lvl6pPr marR="0" lvl="5" algn="l" rtl="0">
              <a:lnSpc>
                <a:spcPct val="90000"/>
              </a:lnSpc>
              <a:spcBef>
                <a:spcPts val="54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6pPr>
            <a:lvl7pPr marR="0" lvl="6" algn="l" rtl="0">
              <a:lnSpc>
                <a:spcPct val="90000"/>
              </a:lnSpc>
              <a:spcBef>
                <a:spcPts val="54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7pPr>
            <a:lvl8pPr marR="0" lvl="7" algn="l" rtl="0">
              <a:lnSpc>
                <a:spcPct val="90000"/>
              </a:lnSpc>
              <a:spcBef>
                <a:spcPts val="54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8pPr>
            <a:lvl9pPr marR="0" lvl="8" algn="l" rtl="0">
              <a:lnSpc>
                <a:spcPct val="90000"/>
              </a:lnSpc>
              <a:spcBef>
                <a:spcPts val="540"/>
              </a:spcBef>
              <a:spcAft>
                <a:spcPts val="0"/>
              </a:spcAft>
              <a:buClr>
                <a:schemeClr val="dk1"/>
              </a:buClr>
              <a:buSzPts val="2700"/>
              <a:buFont typeface="Arial"/>
              <a:buChar char="•"/>
              <a:defRPr sz="2700" b="0" i="0" u="none" strike="noStrike" cap="none">
                <a:solidFill>
                  <a:schemeClr val="dk1"/>
                </a:solidFill>
                <a:latin typeface="Cabin"/>
                <a:ea typeface="Cabin"/>
                <a:cs typeface="Cabin"/>
                <a:sym typeface="Cabin"/>
              </a:defRPr>
            </a:lvl9pPr>
          </a:lstStyle>
          <a:p>
            <a:endParaRPr/>
          </a:p>
        </p:txBody>
      </p:sp>
      <p:sp>
        <p:nvSpPr>
          <p:cNvPr id="20" name="Google Shape;20;p3"/>
          <p:cNvSpPr txBox="1">
            <a:spLocks noGrp="1"/>
          </p:cNvSpPr>
          <p:nvPr>
            <p:ph type="title"/>
          </p:nvPr>
        </p:nvSpPr>
        <p:spPr>
          <a:xfrm>
            <a:off x="824628" y="358342"/>
            <a:ext cx="10135740" cy="558600"/>
          </a:xfrm>
          <a:prstGeom prst="rect">
            <a:avLst/>
          </a:prstGeom>
          <a:noFill/>
          <a:ln>
            <a:noFill/>
          </a:ln>
        </p:spPr>
        <p:txBody>
          <a:bodyPr spcFirstLastPara="1" wrap="square" lIns="0" tIns="0" rIns="0" bIns="0" anchor="t" anchorCtr="0">
            <a:noAutofit/>
          </a:bodyPr>
          <a:lstStyle>
            <a:lvl1pPr marR="0" lvl="0" algn="l">
              <a:lnSpc>
                <a:spcPct val="106650"/>
              </a:lnSpc>
              <a:spcBef>
                <a:spcPts val="0"/>
              </a:spcBef>
              <a:spcAft>
                <a:spcPts val="0"/>
              </a:spcAft>
              <a:buClr>
                <a:srgbClr val="303333"/>
              </a:buClr>
              <a:buSzPts val="4000"/>
              <a:buFont typeface="Arial"/>
              <a:buNone/>
              <a:defRPr sz="4000" b="1" i="0" u="none" strike="noStrike" cap="none">
                <a:solidFill>
                  <a:srgbClr val="303333"/>
                </a:solidFill>
                <a:latin typeface="Arial"/>
                <a:ea typeface="Arial"/>
                <a:cs typeface="Arial"/>
                <a:sym typeface="Arial"/>
              </a:defRPr>
            </a:lvl1pPr>
            <a:lvl2pPr lvl="1">
              <a:spcBef>
                <a:spcPts val="0"/>
              </a:spcBef>
              <a:spcAft>
                <a:spcPts val="0"/>
              </a:spcAft>
              <a:buSzPts val="3700"/>
              <a:buNone/>
              <a:defRPr sz="1800"/>
            </a:lvl2pPr>
            <a:lvl3pPr lvl="2">
              <a:spcBef>
                <a:spcPts val="0"/>
              </a:spcBef>
              <a:spcAft>
                <a:spcPts val="0"/>
              </a:spcAft>
              <a:buSzPts val="3700"/>
              <a:buNone/>
              <a:defRPr sz="1800"/>
            </a:lvl3pPr>
            <a:lvl4pPr lvl="3">
              <a:spcBef>
                <a:spcPts val="0"/>
              </a:spcBef>
              <a:spcAft>
                <a:spcPts val="0"/>
              </a:spcAft>
              <a:buSzPts val="3700"/>
              <a:buNone/>
              <a:defRPr sz="1800"/>
            </a:lvl4pPr>
            <a:lvl5pPr lvl="4">
              <a:spcBef>
                <a:spcPts val="0"/>
              </a:spcBef>
              <a:spcAft>
                <a:spcPts val="0"/>
              </a:spcAft>
              <a:buSzPts val="3700"/>
              <a:buNone/>
              <a:defRPr sz="1800"/>
            </a:lvl5pPr>
            <a:lvl6pPr lvl="5">
              <a:spcBef>
                <a:spcPts val="0"/>
              </a:spcBef>
              <a:spcAft>
                <a:spcPts val="0"/>
              </a:spcAft>
              <a:buSzPts val="3700"/>
              <a:buNone/>
              <a:defRPr sz="1800"/>
            </a:lvl6pPr>
            <a:lvl7pPr lvl="6">
              <a:spcBef>
                <a:spcPts val="0"/>
              </a:spcBef>
              <a:spcAft>
                <a:spcPts val="0"/>
              </a:spcAft>
              <a:buSzPts val="3700"/>
              <a:buNone/>
              <a:defRPr sz="1800"/>
            </a:lvl7pPr>
            <a:lvl8pPr lvl="7">
              <a:spcBef>
                <a:spcPts val="0"/>
              </a:spcBef>
              <a:spcAft>
                <a:spcPts val="0"/>
              </a:spcAft>
              <a:buSzPts val="3700"/>
              <a:buNone/>
              <a:defRPr sz="1800"/>
            </a:lvl8pPr>
            <a:lvl9pPr lvl="8">
              <a:spcBef>
                <a:spcPts val="0"/>
              </a:spcBef>
              <a:spcAft>
                <a:spcPts val="0"/>
              </a:spcAft>
              <a:buSzPts val="3700"/>
              <a:buNone/>
              <a:defRPr sz="1800"/>
            </a:lvl9pPr>
          </a:lstStyle>
          <a:p>
            <a:endParaRPr/>
          </a:p>
        </p:txBody>
      </p:sp>
      <p:pic>
        <p:nvPicPr>
          <p:cNvPr id="5" name="Picture 4">
            <a:extLst>
              <a:ext uri="{FF2B5EF4-FFF2-40B4-BE49-F238E27FC236}">
                <a16:creationId xmlns:a16="http://schemas.microsoft.com/office/drawing/2014/main" id="{B47AB5EA-4ECB-4942-B3F1-F9EF4F32E76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60368" y="6203732"/>
            <a:ext cx="1092200" cy="533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5" name="Google Shape;75;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bit.io/lessons_music_video"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p:nvPr/>
        </p:nvSpPr>
        <p:spPr>
          <a:xfrm>
            <a:off x="578589" y="1651028"/>
            <a:ext cx="11134337" cy="34778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0" b="1" dirty="0">
                <a:solidFill>
                  <a:schemeClr val="lt1"/>
                </a:solidFill>
                <a:latin typeface="+mj-lt"/>
                <a:ea typeface="Questrial"/>
                <a:cs typeface="Questrial"/>
                <a:sym typeface="Questrial"/>
              </a:rPr>
              <a:t>Musical micro:bit </a:t>
            </a:r>
            <a:endParaRPr b="1" dirty="0">
              <a:latin typeface="+mj-lt"/>
            </a:endParaRPr>
          </a:p>
          <a:p>
            <a:pPr marL="0" marR="0" lvl="0" indent="0" algn="ctr" rtl="0">
              <a:spcBef>
                <a:spcPts val="0"/>
              </a:spcBef>
              <a:spcAft>
                <a:spcPts val="0"/>
              </a:spcAft>
              <a:buNone/>
            </a:pPr>
            <a:r>
              <a:rPr lang="en-US" sz="6000" b="0" i="0" u="none" strike="noStrike" cap="none" dirty="0">
                <a:solidFill>
                  <a:schemeClr val="lt1"/>
                </a:solidFill>
                <a:latin typeface="+mj-lt"/>
                <a:ea typeface="Questrial"/>
                <a:cs typeface="Questrial"/>
                <a:sym typeface="Questrial"/>
              </a:rPr>
              <a:t>Teacher lesson guide </a:t>
            </a:r>
            <a:endParaRPr sz="6000" b="0" i="0" u="none" strike="noStrike" cap="none" dirty="0">
              <a:solidFill>
                <a:schemeClr val="lt1"/>
              </a:solidFill>
              <a:latin typeface="+mj-lt"/>
              <a:ea typeface="Questrial"/>
              <a:cs typeface="Questrial"/>
              <a:sym typeface="Questrial"/>
            </a:endParaRPr>
          </a:p>
          <a:p>
            <a:pPr marL="0" marR="0" lvl="0" indent="0" algn="ctr" rtl="0">
              <a:spcBef>
                <a:spcPts val="0"/>
              </a:spcBef>
              <a:spcAft>
                <a:spcPts val="0"/>
              </a:spcAft>
              <a:buNone/>
            </a:pPr>
            <a:r>
              <a:rPr lang="en-US" sz="6000" dirty="0">
                <a:solidFill>
                  <a:schemeClr val="lt1"/>
                </a:solidFill>
                <a:latin typeface="+mj-lt"/>
                <a:ea typeface="Questrial"/>
                <a:cs typeface="Questrial"/>
                <a:sym typeface="Questrial"/>
              </a:rPr>
              <a:t>Lesson 3</a:t>
            </a:r>
            <a:endParaRPr sz="6000" dirty="0">
              <a:solidFill>
                <a:schemeClr val="lt1"/>
              </a:solidFill>
              <a:latin typeface="+mj-lt"/>
              <a:ea typeface="Questrial"/>
              <a:cs typeface="Questrial"/>
              <a:sym typeface="Questrial"/>
            </a:endParaRPr>
          </a:p>
          <a:p>
            <a:pPr marL="0" marR="0" lvl="0" indent="0" algn="ctr" rtl="0">
              <a:spcBef>
                <a:spcPts val="0"/>
              </a:spcBef>
              <a:spcAft>
                <a:spcPts val="0"/>
              </a:spcAft>
              <a:buNone/>
            </a:pPr>
            <a:endParaRPr sz="4400" b="0" i="0" u="none" strike="noStrike" cap="none" dirty="0">
              <a:solidFill>
                <a:schemeClr val="lt1"/>
              </a:solidFill>
              <a:latin typeface="+mj-lt"/>
              <a:ea typeface="Calibri"/>
              <a:cs typeface="Calibri"/>
              <a:sym typeface="Calibri"/>
            </a:endParaRPr>
          </a:p>
          <a:p>
            <a:pPr marL="0" marR="0" lvl="0" indent="0" algn="ctr" rtl="0">
              <a:spcBef>
                <a:spcPts val="0"/>
              </a:spcBef>
              <a:spcAft>
                <a:spcPts val="0"/>
              </a:spcAft>
              <a:buNone/>
            </a:pPr>
            <a:endParaRPr sz="4400" b="0" i="0" u="none" strike="noStrike" cap="none" dirty="0">
              <a:solidFill>
                <a:schemeClr val="lt1"/>
              </a:solidFill>
              <a:latin typeface="+mj-lt"/>
              <a:ea typeface="Calibri"/>
              <a:cs typeface="Calibri"/>
              <a:sym typeface="Calibri"/>
            </a:endParaRPr>
          </a:p>
          <a:p>
            <a:pPr marL="0" marR="0" lvl="0" indent="0" algn="ctr" rtl="0">
              <a:spcBef>
                <a:spcPts val="0"/>
              </a:spcBef>
              <a:spcAft>
                <a:spcPts val="0"/>
              </a:spcAft>
              <a:buNone/>
            </a:pPr>
            <a:endParaRPr sz="4400" b="0" i="0" u="none" strike="noStrike" cap="none" dirty="0">
              <a:solidFill>
                <a:schemeClr val="lt1"/>
              </a:solidFill>
              <a:latin typeface="+mj-lt"/>
              <a:ea typeface="Calibri"/>
              <a:cs typeface="Calibri"/>
              <a:sym typeface="Calibri"/>
            </a:endParaRPr>
          </a:p>
        </p:txBody>
      </p:sp>
      <p:pic>
        <p:nvPicPr>
          <p:cNvPr id="96" name="Google Shape;96;p15"/>
          <p:cNvPicPr preferRelativeResize="0"/>
          <p:nvPr/>
        </p:nvPicPr>
        <p:blipFill rotWithShape="1">
          <a:blip r:embed="rId3" cstate="screen">
            <a:alphaModFix amt="5000"/>
            <a:extLst>
              <a:ext uri="{28A0092B-C50C-407E-A947-70E740481C1C}">
                <a14:useLocalDpi xmlns:a14="http://schemas.microsoft.com/office/drawing/2010/main"/>
              </a:ext>
            </a:extLst>
          </a:blip>
          <a:srcRect/>
          <a:stretch/>
        </p:blipFill>
        <p:spPr>
          <a:xfrm rot="911264">
            <a:off x="8933200" y="4664970"/>
            <a:ext cx="753722" cy="1035727"/>
          </a:xfrm>
          <a:prstGeom prst="rect">
            <a:avLst/>
          </a:prstGeom>
          <a:noFill/>
          <a:ln>
            <a:noFill/>
          </a:ln>
        </p:spPr>
      </p:pic>
      <p:pic>
        <p:nvPicPr>
          <p:cNvPr id="97" name="Google Shape;97;p15"/>
          <p:cNvPicPr preferRelativeResize="0"/>
          <p:nvPr/>
        </p:nvPicPr>
        <p:blipFill rotWithShape="1">
          <a:blip r:embed="rId3" cstate="screen">
            <a:alphaModFix amt="5000"/>
            <a:extLst>
              <a:ext uri="{28A0092B-C50C-407E-A947-70E740481C1C}">
                <a14:useLocalDpi xmlns:a14="http://schemas.microsoft.com/office/drawing/2010/main"/>
              </a:ext>
            </a:extLst>
          </a:blip>
          <a:srcRect/>
          <a:stretch/>
        </p:blipFill>
        <p:spPr>
          <a:xfrm rot="911264">
            <a:off x="6268264" y="5387311"/>
            <a:ext cx="753722" cy="1035727"/>
          </a:xfrm>
          <a:prstGeom prst="rect">
            <a:avLst/>
          </a:prstGeom>
          <a:noFill/>
          <a:ln>
            <a:noFill/>
          </a:ln>
        </p:spPr>
      </p:pic>
      <p:pic>
        <p:nvPicPr>
          <p:cNvPr id="98" name="Google Shape;98;p15"/>
          <p:cNvPicPr preferRelativeResize="0"/>
          <p:nvPr/>
        </p:nvPicPr>
        <p:blipFill rotWithShape="1">
          <a:blip r:embed="rId3" cstate="screen">
            <a:alphaModFix amt="5000"/>
            <a:extLst>
              <a:ext uri="{28A0092B-C50C-407E-A947-70E740481C1C}">
                <a14:useLocalDpi xmlns:a14="http://schemas.microsoft.com/office/drawing/2010/main"/>
              </a:ext>
            </a:extLst>
          </a:blip>
          <a:srcRect/>
          <a:stretch/>
        </p:blipFill>
        <p:spPr>
          <a:xfrm rot="911264">
            <a:off x="10484279" y="388269"/>
            <a:ext cx="753722" cy="1035727"/>
          </a:xfrm>
          <a:prstGeom prst="rect">
            <a:avLst/>
          </a:prstGeom>
          <a:noFill/>
          <a:ln>
            <a:noFill/>
          </a:ln>
        </p:spPr>
      </p:pic>
      <p:pic>
        <p:nvPicPr>
          <p:cNvPr id="99" name="Google Shape;99;p15"/>
          <p:cNvPicPr preferRelativeResize="0"/>
          <p:nvPr/>
        </p:nvPicPr>
        <p:blipFill rotWithShape="1">
          <a:blip r:embed="rId4" cstate="screen">
            <a:alphaModFix amt="5000"/>
            <a:extLst>
              <a:ext uri="{28A0092B-C50C-407E-A947-70E740481C1C}">
                <a14:useLocalDpi xmlns:a14="http://schemas.microsoft.com/office/drawing/2010/main"/>
              </a:ext>
            </a:extLst>
          </a:blip>
          <a:srcRect/>
          <a:stretch/>
        </p:blipFill>
        <p:spPr>
          <a:xfrm rot="-1168137">
            <a:off x="3275646" y="4901076"/>
            <a:ext cx="866231" cy="1119177"/>
          </a:xfrm>
          <a:prstGeom prst="rect">
            <a:avLst/>
          </a:prstGeom>
          <a:noFill/>
          <a:ln>
            <a:noFill/>
          </a:ln>
        </p:spPr>
      </p:pic>
      <p:pic>
        <p:nvPicPr>
          <p:cNvPr id="100" name="Google Shape;100;p15"/>
          <p:cNvPicPr preferRelativeResize="0"/>
          <p:nvPr/>
        </p:nvPicPr>
        <p:blipFill rotWithShape="1">
          <a:blip r:embed="rId5" cstate="screen">
            <a:alphaModFix amt="5000"/>
            <a:extLst>
              <a:ext uri="{28A0092B-C50C-407E-A947-70E740481C1C}">
                <a14:useLocalDpi xmlns:a14="http://schemas.microsoft.com/office/drawing/2010/main"/>
              </a:ext>
            </a:extLst>
          </a:blip>
          <a:srcRect/>
          <a:stretch/>
        </p:blipFill>
        <p:spPr>
          <a:xfrm rot="-2090590" flipH="1">
            <a:off x="838950" y="4940120"/>
            <a:ext cx="1033233" cy="612005"/>
          </a:xfrm>
          <a:prstGeom prst="rect">
            <a:avLst/>
          </a:prstGeom>
          <a:noFill/>
          <a:ln>
            <a:noFill/>
          </a:ln>
        </p:spPr>
      </p:pic>
      <p:pic>
        <p:nvPicPr>
          <p:cNvPr id="101" name="Google Shape;101;p15"/>
          <p:cNvPicPr preferRelativeResize="0"/>
          <p:nvPr/>
        </p:nvPicPr>
        <p:blipFill rotWithShape="1">
          <a:blip r:embed="rId6" cstate="screen">
            <a:alphaModFix amt="5000"/>
            <a:extLst>
              <a:ext uri="{28A0092B-C50C-407E-A947-70E740481C1C}">
                <a14:useLocalDpi xmlns:a14="http://schemas.microsoft.com/office/drawing/2010/main"/>
              </a:ext>
            </a:extLst>
          </a:blip>
          <a:srcRect/>
          <a:stretch/>
        </p:blipFill>
        <p:spPr>
          <a:xfrm rot="1801578">
            <a:off x="5443054" y="666436"/>
            <a:ext cx="830446" cy="642139"/>
          </a:xfrm>
          <a:prstGeom prst="rect">
            <a:avLst/>
          </a:prstGeom>
          <a:noFill/>
          <a:ln>
            <a:noFill/>
          </a:ln>
        </p:spPr>
      </p:pic>
      <p:pic>
        <p:nvPicPr>
          <p:cNvPr id="102" name="Google Shape;102;p15"/>
          <p:cNvPicPr preferRelativeResize="0"/>
          <p:nvPr/>
        </p:nvPicPr>
        <p:blipFill rotWithShape="1">
          <a:blip r:embed="rId3" cstate="screen">
            <a:alphaModFix amt="5000"/>
            <a:extLst>
              <a:ext uri="{28A0092B-C50C-407E-A947-70E740481C1C}">
                <a14:useLocalDpi xmlns:a14="http://schemas.microsoft.com/office/drawing/2010/main"/>
              </a:ext>
            </a:extLst>
          </a:blip>
          <a:srcRect/>
          <a:stretch/>
        </p:blipFill>
        <p:spPr>
          <a:xfrm rot="911264">
            <a:off x="379877" y="2249455"/>
            <a:ext cx="753722" cy="1035727"/>
          </a:xfrm>
          <a:prstGeom prst="rect">
            <a:avLst/>
          </a:prstGeom>
          <a:noFill/>
          <a:ln>
            <a:noFill/>
          </a:ln>
        </p:spPr>
      </p:pic>
      <p:pic>
        <p:nvPicPr>
          <p:cNvPr id="103" name="Google Shape;103;p15"/>
          <p:cNvPicPr preferRelativeResize="0"/>
          <p:nvPr/>
        </p:nvPicPr>
        <p:blipFill rotWithShape="1">
          <a:blip r:embed="rId4" cstate="screen">
            <a:alphaModFix amt="5000"/>
            <a:extLst>
              <a:ext uri="{28A0092B-C50C-407E-A947-70E740481C1C}">
                <a14:useLocalDpi xmlns:a14="http://schemas.microsoft.com/office/drawing/2010/main"/>
              </a:ext>
            </a:extLst>
          </a:blip>
          <a:srcRect/>
          <a:stretch/>
        </p:blipFill>
        <p:spPr>
          <a:xfrm rot="-1168133">
            <a:off x="1542324" y="271567"/>
            <a:ext cx="866232" cy="1119177"/>
          </a:xfrm>
          <a:prstGeom prst="rect">
            <a:avLst/>
          </a:prstGeom>
          <a:noFill/>
          <a:ln>
            <a:noFill/>
          </a:ln>
        </p:spPr>
      </p:pic>
      <p:pic>
        <p:nvPicPr>
          <p:cNvPr id="12" name="Picture 11">
            <a:extLst>
              <a:ext uri="{FF2B5EF4-FFF2-40B4-BE49-F238E27FC236}">
                <a16:creationId xmlns:a16="http://schemas.microsoft.com/office/drawing/2014/main" id="{6B171FFC-D4DD-684E-A82F-637A63E43FDF}"/>
              </a:ext>
            </a:extLst>
          </p:cNvPr>
          <p:cNvPicPr/>
          <p:nvPr/>
        </p:nvPicPr>
        <p:blipFill>
          <a:blip r:embed="rId7" cstate="print">
            <a:extLst>
              <a:ext uri="{28A0092B-C50C-407E-A947-70E740481C1C}">
                <a14:useLocalDpi xmlns:a14="http://schemas.microsoft.com/office/drawing/2010/main"/>
              </a:ext>
            </a:extLst>
          </a:blip>
          <a:stretch>
            <a:fillRect/>
          </a:stretch>
        </p:blipFill>
        <p:spPr>
          <a:xfrm>
            <a:off x="9513468" y="5306667"/>
            <a:ext cx="2304255" cy="10983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p:nvPr/>
        </p:nvSpPr>
        <p:spPr>
          <a:xfrm>
            <a:off x="1012888" y="367400"/>
            <a:ext cx="106773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Learning objectives:</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lvl="0" indent="-431800" algn="l" rtl="0">
              <a:lnSpc>
                <a:spcPct val="115000"/>
              </a:lnSpc>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To </a:t>
            </a:r>
            <a:r>
              <a:rPr lang="en-US" sz="3200" dirty="0" err="1">
                <a:solidFill>
                  <a:srgbClr val="505555"/>
                </a:solidFill>
                <a:latin typeface="+mj-lt"/>
                <a:ea typeface="Questrial"/>
                <a:cs typeface="Questrial"/>
                <a:sym typeface="Questrial"/>
              </a:rPr>
              <a:t>analyse</a:t>
            </a:r>
            <a:r>
              <a:rPr lang="en-US" sz="3200" dirty="0">
                <a:solidFill>
                  <a:srgbClr val="505555"/>
                </a:solidFill>
                <a:latin typeface="+mj-lt"/>
                <a:ea typeface="Questrial"/>
                <a:cs typeface="Questrial"/>
                <a:sym typeface="Questrial"/>
              </a:rPr>
              <a:t> and modify algorithms.</a:t>
            </a: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rgbClr val="505555"/>
              </a:solidFill>
              <a:latin typeface="+mj-lt"/>
              <a:ea typeface="Questrial"/>
              <a:cs typeface="Questrial"/>
              <a:sym typeface="Questrial"/>
            </a:endParaRPr>
          </a:p>
          <a:p>
            <a:pPr marL="457200" lvl="0" indent="-431800" algn="l" rtl="0">
              <a:lnSpc>
                <a:spcPct val="115000"/>
              </a:lnSpc>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To identify patterns in algorithms.</a:t>
            </a: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rgbClr val="505555"/>
              </a:solidFill>
              <a:latin typeface="+mj-lt"/>
              <a:ea typeface="Questrial"/>
              <a:cs typeface="Questrial"/>
              <a:sym typeface="Questrial"/>
            </a:endParaRPr>
          </a:p>
          <a:p>
            <a:pPr marL="457200" lvl="0" indent="-431800" algn="l" rtl="0">
              <a:lnSpc>
                <a:spcPct val="115000"/>
              </a:lnSpc>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To write algorithms using repetition and selection.</a:t>
            </a: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chemeClr val="dk1"/>
              </a:solidFill>
              <a:latin typeface="+mj-lt"/>
              <a:ea typeface="Questrial"/>
              <a:cs typeface="Questrial"/>
              <a:sym typeface="Quest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p:nvPr/>
        </p:nvSpPr>
        <p:spPr>
          <a:xfrm>
            <a:off x="555695" y="269429"/>
            <a:ext cx="61920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err="1">
                <a:solidFill>
                  <a:schemeClr val="dk1"/>
                </a:solidFill>
                <a:latin typeface="+mj-lt"/>
                <a:ea typeface="Questrial"/>
                <a:cs typeface="Questrial"/>
                <a:sym typeface="Questrial"/>
              </a:rPr>
              <a:t>Analysing</a:t>
            </a:r>
            <a:r>
              <a:rPr lang="en-US" sz="4000" b="1" dirty="0">
                <a:solidFill>
                  <a:schemeClr val="dk1"/>
                </a:solidFill>
                <a:latin typeface="+mj-lt"/>
                <a:ea typeface="Questrial"/>
                <a:cs typeface="Questrial"/>
                <a:sym typeface="Questrial"/>
              </a:rPr>
              <a:t> algorithms</a:t>
            </a:r>
            <a:endParaRPr sz="4000" b="1" dirty="0">
              <a:solidFill>
                <a:schemeClr val="dk1"/>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chemeClr val="dk1"/>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Look at the algorithm. What statements can you make about it?</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If this algorithm was followed, what would you see happening?</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Clr>
                <a:schemeClr val="dk1"/>
              </a:buClr>
              <a:buSzPts val="1100"/>
              <a:buFont typeface="Arial"/>
              <a:buNone/>
            </a:pP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Clr>
                <a:schemeClr val="dk1"/>
              </a:buClr>
              <a:buSzPts val="1100"/>
              <a:buFont typeface="Arial"/>
              <a:buNone/>
            </a:pPr>
            <a:r>
              <a:rPr lang="en-US" sz="3200" dirty="0">
                <a:solidFill>
                  <a:srgbClr val="505555"/>
                </a:solidFill>
                <a:latin typeface="+mj-lt"/>
                <a:ea typeface="Questrial"/>
                <a:cs typeface="Questrial"/>
                <a:sym typeface="Questrial"/>
              </a:rPr>
              <a:t>	</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
        <p:nvSpPr>
          <p:cNvPr id="117" name="Google Shape;117;p17"/>
          <p:cNvSpPr txBox="1"/>
          <p:nvPr/>
        </p:nvSpPr>
        <p:spPr>
          <a:xfrm>
            <a:off x="6747695" y="961650"/>
            <a:ext cx="5198700" cy="49347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rgbClr val="505555"/>
                </a:solidFill>
                <a:latin typeface="+mj-lt"/>
                <a:ea typeface="Questrial"/>
                <a:cs typeface="Questrial"/>
                <a:sym typeface="Questrial"/>
              </a:rPr>
              <a:t>FOREVER</a:t>
            </a:r>
            <a:endParaRPr sz="3200">
              <a:solidFill>
                <a:srgbClr val="505555"/>
              </a:solidFill>
              <a:latin typeface="+mj-lt"/>
              <a:ea typeface="Questrial"/>
              <a:cs typeface="Questrial"/>
              <a:sym typeface="Questrial"/>
            </a:endParaRPr>
          </a:p>
          <a:p>
            <a:pPr marL="0" lvl="0" indent="457200" algn="l" rtl="0">
              <a:spcBef>
                <a:spcPts val="0"/>
              </a:spcBef>
              <a:spcAft>
                <a:spcPts val="0"/>
              </a:spcAft>
              <a:buNone/>
            </a:pPr>
            <a:r>
              <a:rPr lang="en-US" sz="3200">
                <a:solidFill>
                  <a:srgbClr val="505555"/>
                </a:solidFill>
                <a:latin typeface="+mj-lt"/>
                <a:ea typeface="Questrial"/>
                <a:cs typeface="Questrial"/>
                <a:sym typeface="Questrial"/>
              </a:rPr>
              <a:t>IF I wave</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	THEN pat head</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IF I point to the ceiling</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	THEN tap shoulders</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IF I point to the window</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	THEN turn around</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IF I point to the floor</a:t>
            </a:r>
            <a:endParaRPr sz="3200">
              <a:solidFill>
                <a:srgbClr val="505555"/>
              </a:solidFill>
              <a:latin typeface="+mj-lt"/>
              <a:ea typeface="Questrial"/>
              <a:cs typeface="Questrial"/>
              <a:sym typeface="Questrial"/>
            </a:endParaRPr>
          </a:p>
          <a:p>
            <a:pPr marL="457200" lvl="0" indent="0" algn="l" rtl="0">
              <a:spcBef>
                <a:spcPts val="0"/>
              </a:spcBef>
              <a:spcAft>
                <a:spcPts val="0"/>
              </a:spcAft>
              <a:buNone/>
            </a:pPr>
            <a:r>
              <a:rPr lang="en-US" sz="3200">
                <a:solidFill>
                  <a:srgbClr val="505555"/>
                </a:solidFill>
                <a:latin typeface="+mj-lt"/>
                <a:ea typeface="Questrial"/>
                <a:cs typeface="Questrial"/>
                <a:sym typeface="Questrial"/>
              </a:rPr>
              <a:t>	THEN jump</a:t>
            </a:r>
            <a:endParaRPr sz="3200">
              <a:latin typeface="+mj-lt"/>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p:nvPr/>
        </p:nvSpPr>
        <p:spPr>
          <a:xfrm>
            <a:off x="1012895" y="62600"/>
            <a:ext cx="61920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Following algorithms</a:t>
            </a:r>
            <a:endParaRPr sz="4000" b="1" dirty="0">
              <a:solidFill>
                <a:schemeClr val="dk1"/>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chemeClr val="dk1"/>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r>
              <a:rPr lang="en-US" sz="3200" dirty="0">
                <a:solidFill>
                  <a:srgbClr val="505555"/>
                </a:solidFill>
                <a:latin typeface="+mj-lt"/>
                <a:ea typeface="Questrial"/>
                <a:cs typeface="Questrial"/>
                <a:sym typeface="Questrial"/>
              </a:rPr>
              <a:t>	</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
        <p:nvSpPr>
          <p:cNvPr id="124" name="Google Shape;124;p18"/>
          <p:cNvSpPr txBox="1"/>
          <p:nvPr/>
        </p:nvSpPr>
        <p:spPr>
          <a:xfrm>
            <a:off x="3774150" y="1652900"/>
            <a:ext cx="5017200" cy="49347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FOREVER</a:t>
            </a:r>
            <a:endParaRPr sz="3200">
              <a:solidFill>
                <a:srgbClr val="505555"/>
              </a:solidFill>
              <a:latin typeface="+mj-lt"/>
              <a:ea typeface="Questrial"/>
              <a:cs typeface="Questrial"/>
              <a:sym typeface="Questrial"/>
            </a:endParaRPr>
          </a:p>
          <a:p>
            <a:pPr marL="0" lvl="0" indent="45720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wave</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pat head</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ceiling</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tap shoulders</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window</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turn around</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floor</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jump</a:t>
            </a:r>
            <a:endParaRPr sz="3200">
              <a:solidFill>
                <a:srgbClr val="505555"/>
              </a:solidFill>
              <a:latin typeface="+mj-lt"/>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p:nvPr/>
        </p:nvSpPr>
        <p:spPr>
          <a:xfrm>
            <a:off x="607945" y="367400"/>
            <a:ext cx="61920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Modifying algorithms</a:t>
            </a:r>
            <a:endParaRPr sz="4000" b="1" dirty="0">
              <a:solidFill>
                <a:schemeClr val="dk1"/>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chemeClr val="dk1"/>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Can you add further examples of selection to your algorithm?</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Use the patterns in the algorithm to help with the structure.</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r>
              <a:rPr lang="en-US" sz="3200" dirty="0">
                <a:solidFill>
                  <a:srgbClr val="505555"/>
                </a:solidFill>
                <a:latin typeface="+mj-lt"/>
                <a:ea typeface="Questrial"/>
                <a:cs typeface="Questrial"/>
                <a:sym typeface="Questrial"/>
              </a:rPr>
              <a:t>	</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
        <p:nvSpPr>
          <p:cNvPr id="131" name="Google Shape;131;p19"/>
          <p:cNvSpPr txBox="1"/>
          <p:nvPr/>
        </p:nvSpPr>
        <p:spPr>
          <a:xfrm>
            <a:off x="6897200" y="1232425"/>
            <a:ext cx="5133300" cy="49347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FOREVER</a:t>
            </a:r>
            <a:endParaRPr sz="3200">
              <a:solidFill>
                <a:srgbClr val="505555"/>
              </a:solidFill>
              <a:latin typeface="+mj-lt"/>
              <a:ea typeface="Questrial"/>
              <a:cs typeface="Questrial"/>
              <a:sym typeface="Questrial"/>
            </a:endParaRPr>
          </a:p>
          <a:p>
            <a:pPr marL="0" lvl="0" indent="45720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wave</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pat head</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ceiling</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tap shoulders</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window</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turn around</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floor</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jump</a:t>
            </a:r>
            <a:endParaRPr sz="3200">
              <a:solidFill>
                <a:srgbClr val="505555"/>
              </a:solidFill>
              <a:latin typeface="+mj-lt"/>
              <a:ea typeface="Questrial"/>
              <a:cs typeface="Questrial"/>
              <a:sym typeface="Quest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p:nvPr/>
        </p:nvSpPr>
        <p:spPr>
          <a:xfrm>
            <a:off x="621009" y="280314"/>
            <a:ext cx="61920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Debugging algorithms</a:t>
            </a:r>
            <a:endParaRPr sz="4000" b="1" dirty="0">
              <a:solidFill>
                <a:schemeClr val="dk1"/>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chemeClr val="dk1"/>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The goal of the algorithm was to get a person to carry out an action </a:t>
            </a:r>
            <a:r>
              <a:rPr lang="en-US" sz="3200" b="1" dirty="0">
                <a:solidFill>
                  <a:srgbClr val="505555"/>
                </a:solidFill>
                <a:latin typeface="+mj-lt"/>
                <a:ea typeface="Questrial"/>
                <a:cs typeface="Questrial"/>
                <a:sym typeface="Questrial"/>
              </a:rPr>
              <a:t>once</a:t>
            </a:r>
            <a:r>
              <a:rPr lang="en-US" sz="3200" dirty="0">
                <a:solidFill>
                  <a:srgbClr val="505555"/>
                </a:solidFill>
                <a:latin typeface="+mj-lt"/>
                <a:ea typeface="Questrial"/>
                <a:cs typeface="Questrial"/>
                <a:sym typeface="Questrial"/>
              </a:rPr>
              <a:t> when the gesture was made.</a:t>
            </a: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Does this algorithm reach this goal?</a:t>
            </a: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How could we change the algorithm so it does met the goal?</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r>
              <a:rPr lang="en-US" sz="3200" dirty="0">
                <a:solidFill>
                  <a:srgbClr val="505555"/>
                </a:solidFill>
                <a:latin typeface="+mj-lt"/>
                <a:ea typeface="Questrial"/>
                <a:cs typeface="Questrial"/>
                <a:sym typeface="Questrial"/>
              </a:rPr>
              <a:t>	</a:t>
            </a:r>
            <a:endParaRPr sz="3200" dirty="0">
              <a:solidFill>
                <a:srgbClr val="505555"/>
              </a:solidFill>
              <a:latin typeface="+mj-lt"/>
              <a:ea typeface="Questrial"/>
              <a:cs typeface="Questrial"/>
              <a:sym typeface="Questrial"/>
            </a:endParaRPr>
          </a:p>
          <a:p>
            <a:pPr marL="457200" marR="0" lvl="0" indent="0" algn="l" rtl="0">
              <a:lnSpc>
                <a:spcPct val="100000"/>
              </a:lnSpc>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
        <p:nvSpPr>
          <p:cNvPr id="138" name="Google Shape;138;p20"/>
          <p:cNvSpPr txBox="1"/>
          <p:nvPr/>
        </p:nvSpPr>
        <p:spPr>
          <a:xfrm>
            <a:off x="7001700" y="1232425"/>
            <a:ext cx="5028900" cy="49347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FOREVER</a:t>
            </a:r>
            <a:endParaRPr sz="3200">
              <a:solidFill>
                <a:srgbClr val="505555"/>
              </a:solidFill>
              <a:latin typeface="+mj-lt"/>
              <a:ea typeface="Questrial"/>
              <a:cs typeface="Questrial"/>
              <a:sym typeface="Questrial"/>
            </a:endParaRPr>
          </a:p>
          <a:p>
            <a:pPr marL="0" lvl="0" indent="45720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wave</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pat head</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ceiling</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tap shoulders</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window</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turn around</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IF I point to the floor</a:t>
            </a:r>
            <a:endParaRPr sz="32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3200">
                <a:solidFill>
                  <a:srgbClr val="505555"/>
                </a:solidFill>
                <a:latin typeface="+mj-lt"/>
                <a:ea typeface="Questrial"/>
                <a:cs typeface="Questrial"/>
                <a:sym typeface="Questrial"/>
              </a:rPr>
              <a:t>	THEN jump</a:t>
            </a:r>
            <a:endParaRPr sz="3200">
              <a:solidFill>
                <a:srgbClr val="505555"/>
              </a:solidFill>
              <a:latin typeface="+mj-lt"/>
              <a:ea typeface="Questrial"/>
              <a:cs typeface="Questrial"/>
              <a:sym typeface="Quest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p:nvPr/>
        </p:nvSpPr>
        <p:spPr>
          <a:xfrm>
            <a:off x="887124" y="334350"/>
            <a:ext cx="10329515"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Conducting an orchestra</a:t>
            </a: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What gestures does the conductor make?</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How do the orchestra respond to these gestures?</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Write an algorithm for one on the conductor’s gestures.</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
        <p:nvSpPr>
          <p:cNvPr id="2" name="Rectangle 1">
            <a:extLst>
              <a:ext uri="{FF2B5EF4-FFF2-40B4-BE49-F238E27FC236}">
                <a16:creationId xmlns:a16="http://schemas.microsoft.com/office/drawing/2014/main" id="{9818E25B-2CBC-394E-8A65-462AC1006B26}"/>
              </a:ext>
            </a:extLst>
          </p:cNvPr>
          <p:cNvSpPr/>
          <p:nvPr/>
        </p:nvSpPr>
        <p:spPr>
          <a:xfrm>
            <a:off x="6269737" y="5120417"/>
            <a:ext cx="5285421" cy="461665"/>
          </a:xfrm>
          <a:prstGeom prst="rect">
            <a:avLst/>
          </a:prstGeom>
        </p:spPr>
        <p:txBody>
          <a:bodyPr wrap="none">
            <a:spAutoFit/>
          </a:bodyPr>
          <a:lstStyle/>
          <a:p>
            <a:r>
              <a:rPr lang="en-GB" sz="2400" b="0" i="0" u="none" strike="noStrike" dirty="0">
                <a:solidFill>
                  <a:srgbClr val="1F1F1F"/>
                </a:solidFill>
                <a:effectLst/>
                <a:highlight>
                  <a:srgbClr val="FFFFFF"/>
                </a:highlight>
                <a:latin typeface="Roboto" panose="020F0502020204030204" pitchFamily="34" charset="0"/>
                <a:hlinkClick r:id="rId3"/>
              </a:rPr>
              <a:t>https://mbit.io/lessons_music_video</a:t>
            </a:r>
            <a:r>
              <a:rPr lang="en-GB" sz="2400" b="0" i="0" u="none" strike="noStrike" dirty="0">
                <a:solidFill>
                  <a:srgbClr val="1F1F1F"/>
                </a:solidFill>
                <a:effectLst/>
                <a:highlight>
                  <a:srgbClr val="FFFFFF"/>
                </a:highlight>
                <a:latin typeface="Roboto" panose="020F0502020204030204" pitchFamily="34" charset="0"/>
              </a:rPr>
              <a:t> </a:t>
            </a:r>
            <a:endParaRPr lang="en-GB"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p:nvPr/>
        </p:nvSpPr>
        <p:spPr>
          <a:xfrm>
            <a:off x="887125" y="334350"/>
            <a:ext cx="10845900" cy="5016900"/>
          </a:xfrm>
          <a:prstGeom prst="rect">
            <a:avLst/>
          </a:prstGeom>
          <a:noFill/>
          <a:ln>
            <a:noFill/>
          </a:ln>
        </p:spPr>
        <p:txBody>
          <a:bodyPr spcFirstLastPara="1" wrap="square" lIns="91425" tIns="45700" rIns="91425" bIns="45700" anchor="t" anchorCtr="0">
            <a:noAutofit/>
          </a:bodyPr>
          <a:lstStyle/>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Conducting the class</a:t>
            </a: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We are going to conduct the class to play musical phrases.</a:t>
            </a: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Write an algorithm so your classmates know what note to play when you make a certain gesture.</a:t>
            </a: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Plan your gestures out using the planning sheet then write your algorithm.</a:t>
            </a: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Use the patterns in the algorithm from earlier to support you.</a:t>
            </a: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What words do you think will be used in the algorithm?</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3"/>
          <p:cNvSpPr/>
          <p:nvPr/>
        </p:nvSpPr>
        <p:spPr>
          <a:xfrm>
            <a:off x="887125" y="-228600"/>
            <a:ext cx="108459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Planning your gestures</a:t>
            </a: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pic>
        <p:nvPicPr>
          <p:cNvPr id="158" name="Google Shape;158;p23"/>
          <p:cNvPicPr preferRelativeResize="0"/>
          <p:nvPr/>
        </p:nvPicPr>
        <p:blipFill rotWithShape="1">
          <a:blip r:embed="rId3" cstate="screen">
            <a:alphaModFix/>
            <a:extLst>
              <a:ext uri="{28A0092B-C50C-407E-A947-70E740481C1C}">
                <a14:useLocalDpi xmlns:a14="http://schemas.microsoft.com/office/drawing/2010/main"/>
              </a:ext>
            </a:extLst>
          </a:blip>
          <a:srcRect b="2400"/>
          <a:stretch/>
        </p:blipFill>
        <p:spPr>
          <a:xfrm>
            <a:off x="3245500" y="1110950"/>
            <a:ext cx="5701025" cy="5592475"/>
          </a:xfrm>
          <a:prstGeom prst="rect">
            <a:avLst/>
          </a:prstGeom>
          <a:noFill/>
          <a:ln w="38100" cap="flat" cmpd="sng">
            <a:solidFill>
              <a:schemeClr val="dk2"/>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p:nvPr/>
        </p:nvSpPr>
        <p:spPr>
          <a:xfrm>
            <a:off x="1012900" y="367400"/>
            <a:ext cx="103896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lvl="0" indent="0" algn="l" rtl="0">
              <a:lnSpc>
                <a:spcPct val="106650"/>
              </a:lnSpc>
              <a:spcBef>
                <a:spcPts val="0"/>
              </a:spcBef>
              <a:spcAft>
                <a:spcPts val="0"/>
              </a:spcAft>
              <a:buClr>
                <a:schemeClr val="dk1"/>
              </a:buClr>
              <a:buFont typeface="Arial"/>
              <a:buNone/>
            </a:pPr>
            <a:r>
              <a:rPr lang="en-US" sz="4000" b="1" dirty="0">
                <a:solidFill>
                  <a:schemeClr val="dk1"/>
                </a:solidFill>
                <a:latin typeface="+mj-lt"/>
                <a:ea typeface="Questrial"/>
                <a:cs typeface="Questrial"/>
                <a:sym typeface="Questrial"/>
              </a:rPr>
              <a:t>Conducting the class</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Display your algorithm to the class.</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Conduct the class so they play one of your musical phrases from lesson one. </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Orchestra, use the algorithm to identify which note to play when the conductor makes a certain gesture.</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p:nvPr/>
        </p:nvSpPr>
        <p:spPr>
          <a:xfrm>
            <a:off x="1012900" y="367400"/>
            <a:ext cx="103896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lvl="0" indent="0" algn="l" rtl="0">
              <a:lnSpc>
                <a:spcPct val="106650"/>
              </a:lnSpc>
              <a:spcBef>
                <a:spcPts val="0"/>
              </a:spcBef>
              <a:spcAft>
                <a:spcPts val="0"/>
              </a:spcAft>
              <a:buClr>
                <a:schemeClr val="dk1"/>
              </a:buClr>
              <a:buFont typeface="Arial"/>
              <a:buNone/>
            </a:pPr>
            <a:r>
              <a:rPr lang="en-US" sz="4000" b="1" dirty="0">
                <a:solidFill>
                  <a:schemeClr val="dk1"/>
                </a:solidFill>
                <a:latin typeface="+mj-lt"/>
                <a:ea typeface="Questrial"/>
                <a:cs typeface="Questrial"/>
                <a:sym typeface="Questrial"/>
              </a:rPr>
              <a:t>Evaluating the algorithms</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Was the algorithm easy to follow?</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Was the pattern of the other algorithm used?</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Did you understand all the language that was used?</a:t>
            </a: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431800" algn="l" rtl="0">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Did you have to make any assumptions because of a lack of clarity?</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marR="0" lvl="0" indent="0" algn="l" rtl="0">
              <a:spcBef>
                <a:spcPts val="0"/>
              </a:spcBef>
              <a:spcAft>
                <a:spcPts val="0"/>
              </a:spcAft>
              <a:buNone/>
            </a:pPr>
            <a:endParaRPr sz="3200" dirty="0">
              <a:solidFill>
                <a:srgbClr val="505555"/>
              </a:solidFill>
              <a:latin typeface="+mj-lt"/>
              <a:ea typeface="Questrial"/>
              <a:cs typeface="Questrial"/>
              <a:sym typeface="Quest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p:nvPr/>
        </p:nvSpPr>
        <p:spPr>
          <a:xfrm>
            <a:off x="1012888" y="367400"/>
            <a:ext cx="106773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Learning objectives revisited:</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lvl="0" indent="-431800" algn="l" rtl="0">
              <a:lnSpc>
                <a:spcPct val="115000"/>
              </a:lnSpc>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To </a:t>
            </a:r>
            <a:r>
              <a:rPr lang="en-US" sz="3200" dirty="0" err="1">
                <a:solidFill>
                  <a:srgbClr val="505555"/>
                </a:solidFill>
                <a:latin typeface="+mj-lt"/>
                <a:ea typeface="Questrial"/>
                <a:cs typeface="Questrial"/>
                <a:sym typeface="Questrial"/>
              </a:rPr>
              <a:t>analyse</a:t>
            </a:r>
            <a:r>
              <a:rPr lang="en-US" sz="3200" dirty="0">
                <a:solidFill>
                  <a:srgbClr val="505555"/>
                </a:solidFill>
                <a:latin typeface="+mj-lt"/>
                <a:ea typeface="Questrial"/>
                <a:cs typeface="Questrial"/>
                <a:sym typeface="Questrial"/>
              </a:rPr>
              <a:t> and modify algorithms</a:t>
            </a: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rgbClr val="505555"/>
              </a:solidFill>
              <a:latin typeface="+mj-lt"/>
              <a:ea typeface="Questrial"/>
              <a:cs typeface="Questrial"/>
              <a:sym typeface="Questrial"/>
            </a:endParaRPr>
          </a:p>
          <a:p>
            <a:pPr marL="457200" lvl="0" indent="-431800" algn="l" rtl="0">
              <a:lnSpc>
                <a:spcPct val="115000"/>
              </a:lnSpc>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To identify patterns in algorithms</a:t>
            </a: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rgbClr val="505555"/>
              </a:solidFill>
              <a:latin typeface="+mj-lt"/>
              <a:ea typeface="Questrial"/>
              <a:cs typeface="Questrial"/>
              <a:sym typeface="Questrial"/>
            </a:endParaRPr>
          </a:p>
          <a:p>
            <a:pPr marL="457200" lvl="0" indent="-431800" algn="l" rtl="0">
              <a:lnSpc>
                <a:spcPct val="115000"/>
              </a:lnSpc>
              <a:spcBef>
                <a:spcPts val="0"/>
              </a:spcBef>
              <a:spcAft>
                <a:spcPts val="0"/>
              </a:spcAft>
              <a:buClr>
                <a:srgbClr val="505555"/>
              </a:buClr>
              <a:buSzPts val="3200"/>
              <a:buFont typeface="Questrial"/>
              <a:buChar char="●"/>
            </a:pPr>
            <a:r>
              <a:rPr lang="en-US" sz="3200" dirty="0">
                <a:solidFill>
                  <a:srgbClr val="505555"/>
                </a:solidFill>
                <a:latin typeface="+mj-lt"/>
                <a:ea typeface="Questrial"/>
                <a:cs typeface="Questrial"/>
                <a:sym typeface="Questrial"/>
              </a:rPr>
              <a:t>To write algorithms using repetition and selection</a:t>
            </a: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chemeClr val="dk1"/>
              </a:solidFill>
              <a:latin typeface="+mj-lt"/>
              <a:ea typeface="Questrial"/>
              <a:cs typeface="Questrial"/>
              <a:sym typeface="Quest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7"/>
          <p:cNvSpPr txBox="1"/>
          <p:nvPr/>
        </p:nvSpPr>
        <p:spPr>
          <a:xfrm rot="-5400000">
            <a:off x="2355123" y="-1809748"/>
            <a:ext cx="6456000" cy="10670496"/>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FOREVER</a:t>
            </a:r>
            <a:endParaRPr sz="4800">
              <a:solidFill>
                <a:srgbClr val="505555"/>
              </a:solidFill>
              <a:latin typeface="+mj-lt"/>
              <a:ea typeface="Questrial"/>
              <a:cs typeface="Questrial"/>
              <a:sym typeface="Questrial"/>
            </a:endParaRPr>
          </a:p>
          <a:p>
            <a:pPr marL="0" lvl="0" indent="45720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IF I wave</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	THEN pat head</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IF I point to the ceiling</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	THEN tap shoulders</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IF I point to the window</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	THEN turn around</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IF I point to the floor</a:t>
            </a:r>
            <a:endParaRPr sz="4800">
              <a:solidFill>
                <a:srgbClr val="505555"/>
              </a:solidFill>
              <a:latin typeface="+mj-lt"/>
              <a:ea typeface="Questrial"/>
              <a:cs typeface="Questrial"/>
              <a:sym typeface="Questrial"/>
            </a:endParaRPr>
          </a:p>
          <a:p>
            <a:pPr marL="457200" lvl="0" indent="0" algn="l" rtl="0">
              <a:spcBef>
                <a:spcPts val="0"/>
              </a:spcBef>
              <a:spcAft>
                <a:spcPts val="0"/>
              </a:spcAft>
              <a:buClr>
                <a:schemeClr val="dk1"/>
              </a:buClr>
              <a:buSzPts val="1100"/>
              <a:buFont typeface="Arial"/>
              <a:buNone/>
            </a:pPr>
            <a:r>
              <a:rPr lang="en-US" sz="4800">
                <a:solidFill>
                  <a:srgbClr val="505555"/>
                </a:solidFill>
                <a:latin typeface="+mj-lt"/>
                <a:ea typeface="Questrial"/>
                <a:cs typeface="Questrial"/>
                <a:sym typeface="Questrial"/>
              </a:rPr>
              <a:t>	THEN jump</a:t>
            </a:r>
            <a:endParaRPr sz="4800">
              <a:solidFill>
                <a:srgbClr val="505555"/>
              </a:solidFill>
              <a:latin typeface="+mj-lt"/>
              <a:ea typeface="Questrial"/>
              <a:cs typeface="Questrial"/>
              <a:sym typeface="Quest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8"/>
          <p:cNvSpPr/>
          <p:nvPr/>
        </p:nvSpPr>
        <p:spPr>
          <a:xfrm>
            <a:off x="925802" y="172024"/>
            <a:ext cx="10677300" cy="501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0" marR="0" lvl="0" indent="0" algn="l" rtl="0">
              <a:lnSpc>
                <a:spcPct val="106650"/>
              </a:lnSpc>
              <a:spcBef>
                <a:spcPts val="0"/>
              </a:spcBef>
              <a:spcAft>
                <a:spcPts val="0"/>
              </a:spcAft>
              <a:buNone/>
            </a:pPr>
            <a:r>
              <a:rPr lang="en-US" sz="4000" b="1" dirty="0">
                <a:solidFill>
                  <a:schemeClr val="dk1"/>
                </a:solidFill>
                <a:latin typeface="+mj-lt"/>
                <a:ea typeface="Questrial"/>
                <a:cs typeface="Questrial"/>
                <a:sym typeface="Questrial"/>
              </a:rPr>
              <a:t>Example algorithms</a:t>
            </a:r>
            <a:endParaRPr sz="3200" dirty="0">
              <a:solidFill>
                <a:srgbClr val="505555"/>
              </a:solidFill>
              <a:latin typeface="+mj-lt"/>
              <a:ea typeface="Questrial"/>
              <a:cs typeface="Questrial"/>
              <a:sym typeface="Questrial"/>
            </a:endParaRPr>
          </a:p>
          <a:p>
            <a:pPr marL="0" marR="0" lvl="0" indent="0" algn="l" rtl="0">
              <a:spcBef>
                <a:spcPts val="0"/>
              </a:spcBef>
              <a:spcAft>
                <a:spcPts val="0"/>
              </a:spcAft>
              <a:buNone/>
            </a:pP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rgbClr val="505555"/>
              </a:solidFill>
              <a:latin typeface="+mj-lt"/>
              <a:ea typeface="Questrial"/>
              <a:cs typeface="Questrial"/>
              <a:sym typeface="Questrial"/>
            </a:endParaRPr>
          </a:p>
          <a:p>
            <a:pPr marL="457200" lvl="0" indent="0" algn="l" rtl="0">
              <a:lnSpc>
                <a:spcPct val="115000"/>
              </a:lnSpc>
              <a:spcBef>
                <a:spcPts val="0"/>
              </a:spcBef>
              <a:spcAft>
                <a:spcPts val="0"/>
              </a:spcAft>
              <a:buNone/>
            </a:pPr>
            <a:endParaRPr sz="3200" dirty="0">
              <a:solidFill>
                <a:schemeClr val="dk1"/>
              </a:solidFill>
              <a:latin typeface="+mj-lt"/>
              <a:ea typeface="Questrial"/>
              <a:cs typeface="Questrial"/>
              <a:sym typeface="Questrial"/>
            </a:endParaRPr>
          </a:p>
        </p:txBody>
      </p:sp>
      <p:pic>
        <p:nvPicPr>
          <p:cNvPr id="189" name="Google Shape;189;p2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0800000">
            <a:off x="4925152" y="1669076"/>
            <a:ext cx="3008148" cy="4676649"/>
          </a:xfrm>
          <a:prstGeom prst="rect">
            <a:avLst/>
          </a:prstGeom>
          <a:noFill/>
          <a:ln>
            <a:noFill/>
          </a:ln>
        </p:spPr>
      </p:pic>
      <p:pic>
        <p:nvPicPr>
          <p:cNvPr id="190" name="Google Shape;190;p28"/>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0375" y="1518375"/>
            <a:ext cx="4540776" cy="5174349"/>
          </a:xfrm>
          <a:prstGeom prst="rect">
            <a:avLst/>
          </a:prstGeom>
          <a:noFill/>
          <a:ln>
            <a:noFill/>
          </a:ln>
        </p:spPr>
      </p:pic>
      <p:pic>
        <p:nvPicPr>
          <p:cNvPr id="191" name="Google Shape;191;p28"/>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8161900" y="1518375"/>
            <a:ext cx="3902873" cy="45444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748</Words>
  <Application>Microsoft Office PowerPoint</Application>
  <PresentationFormat>Widescreen</PresentationFormat>
  <Paragraphs>159</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Cabin</vt:lpstr>
      <vt:lpstr>Calibri</vt:lpstr>
      <vt:lpstr>Noto Sans Symbols</vt:lpstr>
      <vt:lpstr>Questrial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Ali Hemaya</cp:lastModifiedBy>
  <cp:revision>8</cp:revision>
  <dcterms:modified xsi:type="dcterms:W3CDTF">2026-01-17T15:05:25Z</dcterms:modified>
</cp:coreProperties>
</file>